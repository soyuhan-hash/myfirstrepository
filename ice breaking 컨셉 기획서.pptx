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2" r:id="rId5"/>
    <p:sldId id="266" r:id="rId6"/>
    <p:sldId id="277" r:id="rId7"/>
    <p:sldId id="268" r:id="rId8"/>
    <p:sldId id="267" r:id="rId9"/>
    <p:sldId id="275" r:id="rId10"/>
    <p:sldId id="278" r:id="rId11"/>
    <p:sldId id="271" r:id="rId12"/>
    <p:sldId id="279" r:id="rId13"/>
    <p:sldId id="274" r:id="rId14"/>
    <p:sldId id="280" r:id="rId15"/>
    <p:sldId id="281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유한 소" initials="유소" lastIdx="2" clrIdx="0">
    <p:extLst>
      <p:ext uri="{19B8F6BF-5375-455C-9EA6-DF929625EA0E}">
        <p15:presenceInfo xmlns:p15="http://schemas.microsoft.com/office/powerpoint/2012/main" userId="9880e40521c8038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C7E7"/>
    <a:srgbClr val="BBCC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1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105D97-F228-B140-4346-2F562C4A5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1E027A-D94B-FE26-2F46-E0F68822B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12677D-4FDE-12CE-2F7C-56FB86C6E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5418-12B3-49FB-B4C5-2D5232888C2E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2CE3A7-8E81-3F70-7F45-754B2DAA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491BA-EF93-C44E-807B-6D4FF465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66FB-27A0-433E-BE14-4419078608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355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6FB60D-E471-C46E-2631-CE4EFFBFF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BB80FF-86C1-C6A0-6ED2-11E8AEF42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0D61F8-5230-7DA2-D133-1673C80E7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5418-12B3-49FB-B4C5-2D5232888C2E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AB12CC-E979-CF65-4268-837719D94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B3E65A-1DCB-1F79-D720-B9C3AD5AF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66FB-27A0-433E-BE14-4419078608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30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E5ACD-DCE8-013A-FA88-D078B21EF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CB8D06-1FAE-9082-BC85-45BAC5EE3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74BAE5-2A59-2AF5-BD6B-77953A903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5418-12B3-49FB-B4C5-2D5232888C2E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9C3405-162D-8A88-6761-84A73ED5F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182CAA-A360-75D3-242D-256B7B7F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66FB-27A0-433E-BE14-4419078608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47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6E1317-AE12-74D1-16D3-8A33AC5A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887D39-8646-D2D7-B995-07075768A2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629596-241D-02AD-5B08-115A731BB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EB397C-217E-0A16-0E15-1E962D44F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5418-12B3-49FB-B4C5-2D5232888C2E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65FC04-3A3D-D9B0-684E-0932DCF9E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1B2C27-C97E-12C5-5350-B41EE228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66FB-27A0-433E-BE14-4419078608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448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AD6BB-EBF9-2F4A-18A2-47706C2BD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67A08B-966C-262B-332B-A9A8B717B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6772B6-64CD-77D7-560B-8318D42D4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B30C21-6F7E-5AB1-2A4E-6FBA9F3E8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1F47C7-9151-7384-D90C-DF964083D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97CE52D-4F7A-4A28-15B3-EBF2756A5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5418-12B3-49FB-B4C5-2D5232888C2E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296E326-9348-A25C-AB7E-62134D535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16A74AB-62E2-F38D-A832-D821275D7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66FB-27A0-433E-BE14-4419078608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531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5EDF1-673B-5122-8348-C3D300BCE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551943-113E-9747-8283-625EAEB6A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5418-12B3-49FB-B4C5-2D5232888C2E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4E366F-16F0-3C9A-7130-C981C3CE0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F75654-199C-ABF5-9F25-DC1B5C078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66FB-27A0-433E-BE14-4419078608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258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9286F69-5B2B-D8CC-C6AB-2241D6015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5418-12B3-49FB-B4C5-2D5232888C2E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FE66146-82FF-FEFF-5E5B-B9D4131D3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66257D-9756-EE05-C853-A04F7A40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66FB-27A0-433E-BE14-4419078608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68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B42CF9-5E0F-AE64-0BFC-6C8AFCF1C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C91956-28D5-440D-CA36-1D04E646F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C383D3-4642-8910-6FBE-DE994C97A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4E3935-8384-AC91-9085-918A4339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5418-12B3-49FB-B4C5-2D5232888C2E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C828DE-BF55-239B-256F-5BEFD8B09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D801D1-EB94-09B0-5591-93DF863E2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66FB-27A0-433E-BE14-4419078608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816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B2E02-7006-02FD-90EF-BA4A4572B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62E0A3-A138-174B-68F8-6285791077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3E9E5A-F68A-D21D-F732-57C813AC0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8399E9-7CD0-CE25-F706-E8F93F7D6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5418-12B3-49FB-B4C5-2D5232888C2E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E85C6D-E78D-6EF6-9462-F3E7351C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F83384-D988-2D60-588C-451F44DE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66FB-27A0-433E-BE14-4419078608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4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B37374-E892-0B9D-B3F8-F5078462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7DF4D3-9254-1C20-7C15-BEE274F5D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FC0D9-1021-2214-498C-2F4C42149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5418-12B3-49FB-B4C5-2D5232888C2E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D12802-F33A-C26F-4182-B309A36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F88791-8B46-99DA-C1D8-9EAF9EB3F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66FB-27A0-433E-BE14-4419078608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3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A6E66AF-E907-FFA6-646B-146A240E45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DABF00-2426-D9D9-0094-A00589B90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8809F2-2A51-5126-D262-62B1F6BC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5418-12B3-49FB-B4C5-2D5232888C2E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9FC198-DBF9-6EF0-50AB-A0544DA21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36C262-4C32-DBF7-1647-43C4B1E2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66FB-27A0-433E-BE14-4419078608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80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030C0D-95D7-6ABF-8F2C-950341F64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550279-FC01-C9D9-EBBD-D74B5F52F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9D91A2-34CA-D935-A794-2B86EDCAB7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B5418-12B3-49FB-B4C5-2D5232888C2E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52D6EB-2ECA-C169-56D4-02122102F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64512A-5E42-65F3-111F-1279AFA17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A66FB-27A0-433E-BE14-4419078608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03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41CC4FB-4B82-D616-568C-432FEABC2768}"/>
              </a:ext>
            </a:extLst>
          </p:cNvPr>
          <p:cNvSpPr/>
          <p:nvPr/>
        </p:nvSpPr>
        <p:spPr>
          <a:xfrm>
            <a:off x="0" y="4470400"/>
            <a:ext cx="12192000" cy="2387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7D60AB-AC6C-359C-96D9-2EDEFF042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15342"/>
            <a:ext cx="9144000" cy="2387600"/>
          </a:xfrm>
          <a:noFill/>
        </p:spPr>
        <p:txBody>
          <a:bodyPr/>
          <a:lstStyle/>
          <a:p>
            <a:r>
              <a:rPr lang="en-US" altLang="ko-KR" sz="8000" dirty="0">
                <a:solidFill>
                  <a:schemeClr val="bg1">
                    <a:lumMod val="95000"/>
                  </a:schemeClr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Ice Breaking</a:t>
            </a:r>
            <a:br>
              <a:rPr lang="en-US" altLang="ko-KR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</a:b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컨셉 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59B837-00A7-F2D9-2DB0-2EBE231C0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260" y="175260"/>
            <a:ext cx="2764790" cy="482600"/>
          </a:xfrm>
        </p:spPr>
        <p:txBody>
          <a:bodyPr>
            <a:normAutofit/>
          </a:bodyPr>
          <a:lstStyle/>
          <a:p>
            <a:pPr algn="r"/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경일 아카데미 </a:t>
            </a:r>
            <a:r>
              <a:rPr lang="en-US" altLang="ko-KR" sz="1600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AI </a:t>
            </a:r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게임기획 </a:t>
            </a:r>
            <a:r>
              <a:rPr lang="en-US" altLang="ko-KR" sz="1600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3</a:t>
            </a:r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기</a:t>
            </a:r>
          </a:p>
        </p:txBody>
      </p:sp>
    </p:spTree>
    <p:extLst>
      <p:ext uri="{BB962C8B-B14F-4D97-AF65-F5344CB8AC3E}">
        <p14:creationId xmlns:p14="http://schemas.microsoft.com/office/powerpoint/2010/main" val="1976901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04FEE-C67E-09C5-6F0B-C0F4983D2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97200" cy="1325563"/>
          </a:xfrm>
        </p:spPr>
        <p:txBody>
          <a:bodyPr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문서 이력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F7B4C42-3A91-0A72-7F86-E47A8A446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430953"/>
              </p:ext>
            </p:extLst>
          </p:nvPr>
        </p:nvGraphicFramePr>
        <p:xfrm>
          <a:off x="1384300" y="1690688"/>
          <a:ext cx="9677400" cy="21484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80671">
                  <a:extLst>
                    <a:ext uri="{9D8B030D-6E8A-4147-A177-3AD203B41FA5}">
                      <a16:colId xmlns:a16="http://schemas.microsoft.com/office/drawing/2014/main" val="3434426793"/>
                    </a:ext>
                  </a:extLst>
                </a:gridCol>
                <a:gridCol w="1458686">
                  <a:extLst>
                    <a:ext uri="{9D8B030D-6E8A-4147-A177-3AD203B41FA5}">
                      <a16:colId xmlns:a16="http://schemas.microsoft.com/office/drawing/2014/main" val="70009399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925098384"/>
                    </a:ext>
                  </a:extLst>
                </a:gridCol>
                <a:gridCol w="5466443">
                  <a:extLst>
                    <a:ext uri="{9D8B030D-6E8A-4147-A177-3AD203B41FA5}">
                      <a16:colId xmlns:a16="http://schemas.microsoft.com/office/drawing/2014/main" val="396070078"/>
                    </a:ext>
                  </a:extLst>
                </a:gridCol>
              </a:tblGrid>
              <a:tr h="5371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버전 관리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작성 일자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작성자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비고</a:t>
                      </a:r>
                      <a:endParaRPr lang="en-US" altLang="ko-KR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262629"/>
                  </a:ext>
                </a:extLst>
              </a:tr>
              <a:tr h="53710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Ver.01</a:t>
                      </a:r>
                      <a:endParaRPr lang="ko-KR" altLang="en-US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25.11.04</a:t>
                      </a:r>
                      <a:endParaRPr lang="ko-KR" altLang="en-US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소유한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컨셉 기획 초안 작성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265351"/>
                  </a:ext>
                </a:extLst>
              </a:tr>
              <a:tr h="53710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Ver.02</a:t>
                      </a:r>
                      <a:endParaRPr lang="ko-KR" altLang="en-US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25.11.05</a:t>
                      </a:r>
                      <a:endParaRPr lang="ko-KR" altLang="en-US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소유한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 컨셉 수정</a:t>
                      </a:r>
                      <a:r>
                        <a:rPr lang="en-US" altLang="ko-KR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요소 재정립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59482"/>
                  </a:ext>
                </a:extLst>
              </a:tr>
              <a:tr h="53710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Ver.03</a:t>
                      </a:r>
                      <a:endParaRPr lang="ko-KR" altLang="en-US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25.11.05</a:t>
                      </a:r>
                      <a:endParaRPr lang="ko-KR" altLang="en-US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소유한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마법</a:t>
                      </a:r>
                      <a:r>
                        <a:rPr lang="en-US" altLang="ko-KR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얼음</a:t>
                      </a:r>
                      <a:r>
                        <a:rPr lang="en-US" altLang="ko-KR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고서의 세부 설정 변경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106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326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E22E3D5-7255-9740-066F-D42AD4BE29A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INDEX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B1C31F-ECFF-D990-56BA-F13EC10011D6}"/>
              </a:ext>
            </a:extLst>
          </p:cNvPr>
          <p:cNvSpPr txBox="1"/>
          <p:nvPr/>
        </p:nvSpPr>
        <p:spPr>
          <a:xfrm>
            <a:off x="838200" y="3235325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01. 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개요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5FE231-BFCB-066F-CAB8-826C87E7FBFC}"/>
              </a:ext>
            </a:extLst>
          </p:cNvPr>
          <p:cNvSpPr txBox="1"/>
          <p:nvPr/>
        </p:nvSpPr>
        <p:spPr>
          <a:xfrm>
            <a:off x="4794250" y="324485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02. 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게임 컨셉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38950-3F2C-B23A-1C1D-0D2D2DBCEB5E}"/>
              </a:ext>
            </a:extLst>
          </p:cNvPr>
          <p:cNvSpPr txBox="1"/>
          <p:nvPr/>
        </p:nvSpPr>
        <p:spPr>
          <a:xfrm>
            <a:off x="8750300" y="3235325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03. 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요소별 컨셉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6F05BF6-4CD0-660A-4038-0B35E693236D}"/>
              </a:ext>
            </a:extLst>
          </p:cNvPr>
          <p:cNvCxnSpPr>
            <a:cxnSpLocks/>
          </p:cNvCxnSpPr>
          <p:nvPr/>
        </p:nvCxnSpPr>
        <p:spPr>
          <a:xfrm>
            <a:off x="0" y="3784600"/>
            <a:ext cx="1219200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8F9900E-AB1F-F1E6-FB3A-B0A75D1449E0}"/>
              </a:ext>
            </a:extLst>
          </p:cNvPr>
          <p:cNvSpPr txBox="1"/>
          <p:nvPr/>
        </p:nvSpPr>
        <p:spPr>
          <a:xfrm>
            <a:off x="5705475" y="388808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1PGDD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46E4C6-8D1E-A189-54A1-C415A3DDF1A8}"/>
              </a:ext>
            </a:extLst>
          </p:cNvPr>
          <p:cNvSpPr txBox="1"/>
          <p:nvPr/>
        </p:nvSpPr>
        <p:spPr>
          <a:xfrm>
            <a:off x="5705475" y="424313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세계관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3350AE-71A8-1112-5E95-1AF5A8DA6387}"/>
              </a:ext>
            </a:extLst>
          </p:cNvPr>
          <p:cNvSpPr txBox="1"/>
          <p:nvPr/>
        </p:nvSpPr>
        <p:spPr>
          <a:xfrm>
            <a:off x="9505950" y="388808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캐릭터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4217A3-673F-D68D-D508-83B16D79A436}"/>
              </a:ext>
            </a:extLst>
          </p:cNvPr>
          <p:cNvSpPr txBox="1"/>
          <p:nvPr/>
        </p:nvSpPr>
        <p:spPr>
          <a:xfrm>
            <a:off x="9505950" y="424313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채광 수단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C2F8D7-35B3-D8D6-54B1-79DBD13B32FF}"/>
              </a:ext>
            </a:extLst>
          </p:cNvPr>
          <p:cNvSpPr txBox="1"/>
          <p:nvPr/>
        </p:nvSpPr>
        <p:spPr>
          <a:xfrm>
            <a:off x="9505950" y="4612463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스탯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8F5D1F-4EE7-E92E-1116-BB64296C2A79}"/>
              </a:ext>
            </a:extLst>
          </p:cNvPr>
          <p:cNvSpPr txBox="1"/>
          <p:nvPr/>
        </p:nvSpPr>
        <p:spPr>
          <a:xfrm>
            <a:off x="1905000" y="388808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제작 목적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5F908B-DD10-B88D-068C-580763EE84F1}"/>
              </a:ext>
            </a:extLst>
          </p:cNvPr>
          <p:cNvSpPr txBox="1"/>
          <p:nvPr/>
        </p:nvSpPr>
        <p:spPr>
          <a:xfrm>
            <a:off x="1905000" y="424313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기획 의도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E85958-722B-8CA6-D190-71BBBED1DEE8}"/>
              </a:ext>
            </a:extLst>
          </p:cNvPr>
          <p:cNvSpPr txBox="1"/>
          <p:nvPr/>
        </p:nvSpPr>
        <p:spPr>
          <a:xfrm>
            <a:off x="9505950" y="498179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하데스의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제안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9FFC5E-25DA-CD26-C0C6-33E39DA5B714}"/>
              </a:ext>
            </a:extLst>
          </p:cNvPr>
          <p:cNvSpPr txBox="1"/>
          <p:nvPr/>
        </p:nvSpPr>
        <p:spPr>
          <a:xfrm>
            <a:off x="9505950" y="533684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얼음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0039A1-7F07-CD36-4FED-9C639C2B33BE}"/>
              </a:ext>
            </a:extLst>
          </p:cNvPr>
          <p:cNvSpPr txBox="1"/>
          <p:nvPr/>
        </p:nvSpPr>
        <p:spPr>
          <a:xfrm>
            <a:off x="5705475" y="4612463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테마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B963A9-5D7B-0AA8-05BE-5F510A93F1EA}"/>
              </a:ext>
            </a:extLst>
          </p:cNvPr>
          <p:cNvSpPr txBox="1"/>
          <p:nvPr/>
        </p:nvSpPr>
        <p:spPr>
          <a:xfrm>
            <a:off x="9504136" y="5706172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자원</a:t>
            </a:r>
          </a:p>
        </p:txBody>
      </p:sp>
    </p:spTree>
    <p:extLst>
      <p:ext uri="{BB962C8B-B14F-4D97-AF65-F5344CB8AC3E}">
        <p14:creationId xmlns:p14="http://schemas.microsoft.com/office/powerpoint/2010/main" val="3981174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74156-A4CD-AD40-B1AC-7DFAE3E8B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D859CCB-908D-E4E0-6CAF-67109D4AA2B3}"/>
              </a:ext>
            </a:extLst>
          </p:cNvPr>
          <p:cNvCxnSpPr>
            <a:cxnSpLocks/>
          </p:cNvCxnSpPr>
          <p:nvPr/>
        </p:nvCxnSpPr>
        <p:spPr>
          <a:xfrm>
            <a:off x="0" y="4543357"/>
            <a:ext cx="12192000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35759DF-A838-B8AC-C8B5-384491F0ED79}"/>
              </a:ext>
            </a:extLst>
          </p:cNvPr>
          <p:cNvSpPr txBox="1"/>
          <p:nvPr/>
        </p:nvSpPr>
        <p:spPr>
          <a:xfrm>
            <a:off x="912914" y="3921430"/>
            <a:ext cx="2559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tx2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01. </a:t>
            </a:r>
            <a:r>
              <a:rPr lang="ko-KR" altLang="en-US" sz="3200" dirty="0">
                <a:solidFill>
                  <a:schemeClr val="tx2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개요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77FDEA-BEEE-2A0F-DA74-ED57D506F313}"/>
              </a:ext>
            </a:extLst>
          </p:cNvPr>
          <p:cNvSpPr txBox="1"/>
          <p:nvPr/>
        </p:nvSpPr>
        <p:spPr>
          <a:xfrm>
            <a:off x="1172385" y="458051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>
                <a:solidFill>
                  <a:schemeClr val="tx2">
                    <a:lumMod val="5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제작 목적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65FF3-AD25-300B-4330-DE6D403DAACB}"/>
              </a:ext>
            </a:extLst>
          </p:cNvPr>
          <p:cNvSpPr txBox="1"/>
          <p:nvPr/>
        </p:nvSpPr>
        <p:spPr>
          <a:xfrm>
            <a:off x="1172385" y="493555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>
                <a:solidFill>
                  <a:schemeClr val="tx2">
                    <a:lumMod val="5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기획 의도</a:t>
            </a:r>
          </a:p>
        </p:txBody>
      </p:sp>
    </p:spTree>
    <p:extLst>
      <p:ext uri="{BB962C8B-B14F-4D97-AF65-F5344CB8AC3E}">
        <p14:creationId xmlns:p14="http://schemas.microsoft.com/office/powerpoint/2010/main" val="104166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E7F36-307C-B81B-851D-8C5BEF7CE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C2449A0-167A-CE0A-D6A6-079AB867F8E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개요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A505415-5183-9769-FFF1-1A7E47E56AD3}"/>
              </a:ext>
            </a:extLst>
          </p:cNvPr>
          <p:cNvCxnSpPr>
            <a:cxnSpLocks/>
          </p:cNvCxnSpPr>
          <p:nvPr/>
        </p:nvCxnSpPr>
        <p:spPr>
          <a:xfrm>
            <a:off x="0" y="1460500"/>
            <a:ext cx="1219200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E00ACAF-4851-7BEF-0E06-172B16F647A6}"/>
              </a:ext>
            </a:extLst>
          </p:cNvPr>
          <p:cNvSpPr txBox="1"/>
          <p:nvPr/>
        </p:nvSpPr>
        <p:spPr>
          <a:xfrm>
            <a:off x="1237034" y="184596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제작 목적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ED6072-410F-618D-6110-E0EB5DF0348C}"/>
              </a:ext>
            </a:extLst>
          </p:cNvPr>
          <p:cNvSpPr txBox="1"/>
          <p:nvPr/>
        </p:nvSpPr>
        <p:spPr>
          <a:xfrm>
            <a:off x="1568450" y="2462897"/>
            <a:ext cx="9480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정해진 플레이타임이 버겁고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바쁜 일상에 지친 사회인들이 간편하게 플레이할 수 있는 게임을 제작</a:t>
            </a:r>
            <a:endParaRPr lang="en-US" altLang="ko-KR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80637A-D366-0986-50A2-060EE5662654}"/>
              </a:ext>
            </a:extLst>
          </p:cNvPr>
          <p:cNvSpPr txBox="1"/>
          <p:nvPr/>
        </p:nvSpPr>
        <p:spPr>
          <a:xfrm>
            <a:off x="1237034" y="3834625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기획 의도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F456BB-BF07-B6E3-048D-DE25FEC35856}"/>
              </a:ext>
            </a:extLst>
          </p:cNvPr>
          <p:cNvSpPr txBox="1"/>
          <p:nvPr/>
        </p:nvSpPr>
        <p:spPr>
          <a:xfrm>
            <a:off x="1568450" y="4451562"/>
            <a:ext cx="9683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바쁘고 힘든 일상을 혹독한 환경으로 비유하여 표현</a:t>
            </a:r>
            <a:endParaRPr lang="en-US" altLang="ko-KR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스트레스를 깨부순다는 것을 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얼음을 깨는 행위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빗대어 쾌감을 선사</a:t>
            </a:r>
            <a:endParaRPr lang="en-US" altLang="ko-KR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단순히 얼음을 깨부수는 게임이지만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현실의 바쁜 일상에 치이는 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나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몰입할 수 있는 환경 조성</a:t>
            </a:r>
            <a:endParaRPr lang="en-US" altLang="ko-KR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8928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DCE1A-BA1F-EC8A-DF13-D68684D7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CB0DE97-84F9-09F7-33EE-1AB1A0EFF6AE}"/>
              </a:ext>
            </a:extLst>
          </p:cNvPr>
          <p:cNvCxnSpPr>
            <a:cxnSpLocks/>
          </p:cNvCxnSpPr>
          <p:nvPr/>
        </p:nvCxnSpPr>
        <p:spPr>
          <a:xfrm>
            <a:off x="0" y="4543357"/>
            <a:ext cx="12192000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7671323-A894-585B-9803-F75FC8D52653}"/>
              </a:ext>
            </a:extLst>
          </p:cNvPr>
          <p:cNvSpPr txBox="1"/>
          <p:nvPr/>
        </p:nvSpPr>
        <p:spPr>
          <a:xfrm>
            <a:off x="912914" y="3921430"/>
            <a:ext cx="2559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tx2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02. </a:t>
            </a:r>
            <a:r>
              <a:rPr lang="ko-KR" altLang="en-US" sz="3200" dirty="0">
                <a:solidFill>
                  <a:schemeClr val="tx2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게임 컨셉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76F1DD-A92D-4410-38FF-3E3C219492F9}"/>
              </a:ext>
            </a:extLst>
          </p:cNvPr>
          <p:cNvSpPr txBox="1"/>
          <p:nvPr/>
        </p:nvSpPr>
        <p:spPr>
          <a:xfrm>
            <a:off x="1172385" y="458051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2">
                    <a:lumMod val="5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1PGDD</a:t>
            </a:r>
            <a:endParaRPr lang="ko-KR" altLang="en-US" dirty="0">
              <a:solidFill>
                <a:schemeClr val="tx2">
                  <a:lumMod val="5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C6647-BE6B-249D-2A54-3E5F25076A82}"/>
              </a:ext>
            </a:extLst>
          </p:cNvPr>
          <p:cNvSpPr txBox="1"/>
          <p:nvPr/>
        </p:nvSpPr>
        <p:spPr>
          <a:xfrm>
            <a:off x="1172385" y="493555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>
                <a:solidFill>
                  <a:schemeClr val="tx2">
                    <a:lumMod val="5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세계관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092DC8-42E0-F227-7A57-F2794A098C87}"/>
              </a:ext>
            </a:extLst>
          </p:cNvPr>
          <p:cNvSpPr txBox="1"/>
          <p:nvPr/>
        </p:nvSpPr>
        <p:spPr>
          <a:xfrm>
            <a:off x="1172385" y="5304887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>
                <a:solidFill>
                  <a:schemeClr val="tx2">
                    <a:lumMod val="5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테마</a:t>
            </a:r>
          </a:p>
        </p:txBody>
      </p:sp>
    </p:spTree>
    <p:extLst>
      <p:ext uri="{BB962C8B-B14F-4D97-AF65-F5344CB8AC3E}">
        <p14:creationId xmlns:p14="http://schemas.microsoft.com/office/powerpoint/2010/main" val="268816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6292F-AC90-7724-1CA4-16825CC67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D97DE2B-520B-6ACD-AA06-AC6DD70E485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게임 컨셉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24A6BDF-FEE1-C351-9EF2-4E8877C6F435}"/>
              </a:ext>
            </a:extLst>
          </p:cNvPr>
          <p:cNvCxnSpPr>
            <a:cxnSpLocks/>
          </p:cNvCxnSpPr>
          <p:nvPr/>
        </p:nvCxnSpPr>
        <p:spPr>
          <a:xfrm>
            <a:off x="0" y="1460500"/>
            <a:ext cx="1219200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6EB0F7EE-5A20-95EA-FA86-E56215B73F26}"/>
              </a:ext>
            </a:extLst>
          </p:cNvPr>
          <p:cNvSpPr txBox="1">
            <a:spLocks/>
          </p:cNvSpPr>
          <p:nvPr/>
        </p:nvSpPr>
        <p:spPr>
          <a:xfrm>
            <a:off x="2978286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1PGDD</a:t>
            </a:r>
            <a:endParaRPr lang="ko-KR" alt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C2F0FB-3455-3790-780F-212AD38EC686}"/>
              </a:ext>
            </a:extLst>
          </p:cNvPr>
          <p:cNvSpPr txBox="1"/>
          <p:nvPr/>
        </p:nvSpPr>
        <p:spPr>
          <a:xfrm>
            <a:off x="1037769" y="1920895"/>
            <a:ext cx="3057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>
                    <a:lumMod val="95000"/>
                  </a:schemeClr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Ice Breaking</a:t>
            </a:r>
            <a:endParaRPr lang="ko-KR" altLang="en-US" sz="3200" dirty="0">
              <a:solidFill>
                <a:schemeClr val="bg1">
                  <a:lumMod val="95000"/>
                </a:schemeClr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FC8AA-5AFB-C246-3EC5-099F6E22628F}"/>
              </a:ext>
            </a:extLst>
          </p:cNvPr>
          <p:cNvSpPr txBox="1"/>
          <p:nvPr/>
        </p:nvSpPr>
        <p:spPr>
          <a:xfrm>
            <a:off x="1182912" y="2604196"/>
            <a:ext cx="5710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자원을 캐내라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!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살아남기 위해 투자해라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!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끝없이 찾아오는 추위에서 살아남기 위한 </a:t>
            </a:r>
            <a:r>
              <a:rPr lang="ko-KR" altLang="en-US" dirty="0" err="1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곡괭분투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이야기</a:t>
            </a:r>
            <a:endParaRPr lang="en-US" altLang="ko-KR" dirty="0">
              <a:solidFill>
                <a:schemeClr val="bg1">
                  <a:lumMod val="9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61C2547-A258-D2E8-2347-25BB77FD77E4}"/>
              </a:ext>
            </a:extLst>
          </p:cNvPr>
          <p:cNvGrpSpPr/>
          <p:nvPr/>
        </p:nvGrpSpPr>
        <p:grpSpPr>
          <a:xfrm>
            <a:off x="657373" y="4532554"/>
            <a:ext cx="7007249" cy="1692771"/>
            <a:chOff x="774751" y="4024366"/>
            <a:chExt cx="7007249" cy="169277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50613CE-080D-3F1A-322C-9A8CAB14B23B}"/>
                </a:ext>
              </a:extLst>
            </p:cNvPr>
            <p:cNvSpPr txBox="1"/>
            <p:nvPr/>
          </p:nvSpPr>
          <p:spPr>
            <a:xfrm>
              <a:off x="2516465" y="4024366"/>
              <a:ext cx="34911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solidFill>
                    <a:schemeClr val="bg1">
                      <a:lumMod val="9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방치형</a:t>
              </a:r>
              <a:r>
                <a:rPr lang="en-US" altLang="ko-KR" sz="1600" dirty="0">
                  <a:solidFill>
                    <a:schemeClr val="bg1">
                      <a:lumMod val="9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, Clicker Game,</a:t>
              </a:r>
              <a:r>
                <a:rPr lang="ko-KR" altLang="en-US" sz="1600" dirty="0">
                  <a:solidFill>
                    <a:schemeClr val="bg1">
                      <a:lumMod val="9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지구 판타지 배경</a:t>
              </a:r>
              <a:endParaRPr lang="en-US" altLang="ko-KR" sz="1600" dirty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72816E-3FB7-2E42-D1F8-31790B32D7FC}"/>
                </a:ext>
              </a:extLst>
            </p:cNvPr>
            <p:cNvSpPr txBox="1"/>
            <p:nvPr/>
          </p:nvSpPr>
          <p:spPr>
            <a:xfrm>
              <a:off x="2516465" y="4393698"/>
              <a:ext cx="26578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bg1">
                      <a:lumMod val="9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PC (</a:t>
              </a:r>
              <a:r>
                <a:rPr lang="ko-KR" altLang="en-US" sz="1600" dirty="0">
                  <a:solidFill>
                    <a:schemeClr val="bg1">
                      <a:lumMod val="9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메이플 월드</a:t>
              </a:r>
              <a:r>
                <a:rPr lang="en-US" altLang="ko-KR" sz="1600" dirty="0">
                  <a:solidFill>
                    <a:schemeClr val="bg1">
                      <a:lumMod val="9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D3E318D-0632-8331-09E5-2EF64A57C0D5}"/>
                </a:ext>
              </a:extLst>
            </p:cNvPr>
            <p:cNvSpPr txBox="1"/>
            <p:nvPr/>
          </p:nvSpPr>
          <p:spPr>
            <a:xfrm>
              <a:off x="2516464" y="4763030"/>
              <a:ext cx="39496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solidFill>
                    <a:schemeClr val="bg1">
                      <a:lumMod val="9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바쁜 일상에 지친 현대 사회인</a:t>
              </a:r>
              <a:endParaRPr lang="en-US" altLang="ko-KR" sz="1600" dirty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0B30F5-6AC3-98CC-5847-D27DBEAA3BAC}"/>
                </a:ext>
              </a:extLst>
            </p:cNvPr>
            <p:cNvSpPr txBox="1"/>
            <p:nvPr/>
          </p:nvSpPr>
          <p:spPr>
            <a:xfrm>
              <a:off x="2516463" y="5132362"/>
              <a:ext cx="526553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solidFill>
                    <a:schemeClr val="bg1">
                      <a:lumMod val="9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급격한 이상 기후로 얼어붙은 </a:t>
              </a:r>
              <a:r>
                <a:rPr lang="en-US" altLang="ko-KR" sz="1600" dirty="0">
                  <a:solidFill>
                    <a:schemeClr val="bg1">
                      <a:lumMod val="9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2070</a:t>
              </a:r>
              <a:r>
                <a:rPr lang="ko-KR" altLang="en-US" sz="1600" dirty="0">
                  <a:solidFill>
                    <a:schemeClr val="bg1">
                      <a:lumMod val="9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년 지구에서 살아남은 주인공 꽁꽁 언 빙하 속에 파묻힌 자원을 캐기 위한 곡괭이질이 시작된다</a:t>
              </a:r>
              <a:r>
                <a:rPr lang="en-US" altLang="ko-KR" sz="1600" dirty="0">
                  <a:solidFill>
                    <a:schemeClr val="bg1">
                      <a:lumMod val="9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1F53885-4A0C-1973-35A0-0DC1F5E9114C}"/>
                </a:ext>
              </a:extLst>
            </p:cNvPr>
            <p:cNvSpPr txBox="1"/>
            <p:nvPr/>
          </p:nvSpPr>
          <p:spPr>
            <a:xfrm>
              <a:off x="774751" y="4024366"/>
              <a:ext cx="130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장르</a:t>
              </a:r>
              <a:endParaRPr lang="en-US" altLang="ko-KR" dirty="0">
                <a:solidFill>
                  <a:schemeClr val="bg1">
                    <a:lumMod val="95000"/>
                  </a:schemeClr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B8409E3-F5E7-807F-7800-C823DFE28A0F}"/>
                </a:ext>
              </a:extLst>
            </p:cNvPr>
            <p:cNvSpPr txBox="1"/>
            <p:nvPr/>
          </p:nvSpPr>
          <p:spPr>
            <a:xfrm>
              <a:off x="774751" y="4393698"/>
              <a:ext cx="130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플랫폼</a:t>
              </a:r>
              <a:endParaRPr lang="en-US" altLang="ko-KR" dirty="0">
                <a:solidFill>
                  <a:schemeClr val="bg1">
                    <a:lumMod val="95000"/>
                  </a:schemeClr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9A6DBB-0F34-E154-AA92-6FC86AC5E750}"/>
                </a:ext>
              </a:extLst>
            </p:cNvPr>
            <p:cNvSpPr txBox="1"/>
            <p:nvPr/>
          </p:nvSpPr>
          <p:spPr>
            <a:xfrm>
              <a:off x="774751" y="4763030"/>
              <a:ext cx="130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타겟</a:t>
              </a:r>
              <a:endParaRPr lang="en-US" altLang="ko-KR" dirty="0">
                <a:solidFill>
                  <a:schemeClr val="bg1">
                    <a:lumMod val="95000"/>
                  </a:schemeClr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1DF265B-C10C-718E-1350-EFFDCB47E362}"/>
                </a:ext>
              </a:extLst>
            </p:cNvPr>
            <p:cNvSpPr txBox="1"/>
            <p:nvPr/>
          </p:nvSpPr>
          <p:spPr>
            <a:xfrm>
              <a:off x="774751" y="5132362"/>
              <a:ext cx="130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세계관</a:t>
              </a:r>
              <a:endParaRPr lang="en-US" altLang="ko-KR" dirty="0">
                <a:solidFill>
                  <a:schemeClr val="bg1">
                    <a:lumMod val="95000"/>
                  </a:schemeClr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6CFAC3-D77D-BB30-CC88-D564F9E7CADB}"/>
              </a:ext>
            </a:extLst>
          </p:cNvPr>
          <p:cNvSpPr/>
          <p:nvPr/>
        </p:nvSpPr>
        <p:spPr>
          <a:xfrm>
            <a:off x="856942" y="4244440"/>
            <a:ext cx="7033935" cy="2230168"/>
          </a:xfrm>
          <a:prstGeom prst="roundRect">
            <a:avLst/>
          </a:pr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26" name="Picture 2" descr="Steam의 Keep on Mining!">
            <a:extLst>
              <a:ext uri="{FF2B5EF4-FFF2-40B4-BE49-F238E27FC236}">
                <a16:creationId xmlns:a16="http://schemas.microsoft.com/office/drawing/2014/main" id="{F0FB7DC3-C822-BF7C-5BAC-40F42DD001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685" b="2986"/>
          <a:stretch>
            <a:fillRect/>
          </a:stretch>
        </p:blipFill>
        <p:spPr bwMode="auto">
          <a:xfrm>
            <a:off x="9320343" y="4901886"/>
            <a:ext cx="1200208" cy="991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B8B6632-0052-B997-386E-92CAE5BD3236}"/>
              </a:ext>
            </a:extLst>
          </p:cNvPr>
          <p:cNvSpPr/>
          <p:nvPr/>
        </p:nvSpPr>
        <p:spPr>
          <a:xfrm>
            <a:off x="8487095" y="4244440"/>
            <a:ext cx="2866705" cy="2230168"/>
          </a:xfrm>
          <a:prstGeom prst="roundRect">
            <a:avLst/>
          </a:pr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8DC14B-CA7D-E296-A411-9E55BF565A2F}"/>
              </a:ext>
            </a:extLst>
          </p:cNvPr>
          <p:cNvSpPr txBox="1"/>
          <p:nvPr/>
        </p:nvSpPr>
        <p:spPr>
          <a:xfrm>
            <a:off x="9083312" y="4462848"/>
            <a:ext cx="1674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레퍼런스 게임</a:t>
            </a:r>
            <a:endParaRPr lang="en-US" altLang="ko-KR" dirty="0">
              <a:solidFill>
                <a:schemeClr val="bg1">
                  <a:lumMod val="95000"/>
                </a:schemeClr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7899D9-65B9-802A-838C-A0222AD7E44B}"/>
              </a:ext>
            </a:extLst>
          </p:cNvPr>
          <p:cNvSpPr txBox="1"/>
          <p:nvPr/>
        </p:nvSpPr>
        <p:spPr>
          <a:xfrm>
            <a:off x="8859006" y="5903830"/>
            <a:ext cx="2122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Keep on Mining!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8A0BBE5-3571-2E20-5E3D-61603E0D604E}"/>
              </a:ext>
            </a:extLst>
          </p:cNvPr>
          <p:cNvGrpSpPr/>
          <p:nvPr/>
        </p:nvGrpSpPr>
        <p:grpSpPr>
          <a:xfrm>
            <a:off x="7664622" y="2358950"/>
            <a:ext cx="3689178" cy="1448256"/>
            <a:chOff x="7331041" y="4401065"/>
            <a:chExt cx="4272347" cy="1677190"/>
          </a:xfrm>
          <a:solidFill>
            <a:schemeClr val="tx2">
              <a:lumMod val="20000"/>
              <a:lumOff val="80000"/>
            </a:schemeClr>
          </a:solidFill>
        </p:grpSpPr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3D87A4E-52F3-485A-4AE4-149296310F81}"/>
                </a:ext>
              </a:extLst>
            </p:cNvPr>
            <p:cNvCxnSpPr>
              <a:cxnSpLocks/>
            </p:cNvCxnSpPr>
            <p:nvPr/>
          </p:nvCxnSpPr>
          <p:spPr>
            <a:xfrm>
              <a:off x="7607030" y="5226828"/>
              <a:ext cx="3657600" cy="0"/>
            </a:xfrm>
            <a:prstGeom prst="line">
              <a:avLst/>
            </a:prstGeom>
            <a:grpFill/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67D72DC-DF0F-4076-3157-8598DC03CDFE}"/>
                </a:ext>
              </a:extLst>
            </p:cNvPr>
            <p:cNvGrpSpPr/>
            <p:nvPr/>
          </p:nvGrpSpPr>
          <p:grpSpPr>
            <a:xfrm>
              <a:off x="7331041" y="4401065"/>
              <a:ext cx="4272347" cy="1677190"/>
              <a:chOff x="7331041" y="4401065"/>
              <a:chExt cx="4272347" cy="1677190"/>
            </a:xfrm>
            <a:grpFill/>
          </p:grpSpPr>
          <p:sp>
            <p:nvSpPr>
              <p:cNvPr id="25" name="화살표: 굽음 24">
                <a:extLst>
                  <a:ext uri="{FF2B5EF4-FFF2-40B4-BE49-F238E27FC236}">
                    <a16:creationId xmlns:a16="http://schemas.microsoft.com/office/drawing/2014/main" id="{5DE9DCEC-8DAF-6285-FA85-B46B724F88A2}"/>
                  </a:ext>
                </a:extLst>
              </p:cNvPr>
              <p:cNvSpPr/>
              <p:nvPr/>
            </p:nvSpPr>
            <p:spPr>
              <a:xfrm>
                <a:off x="7420976" y="4401065"/>
                <a:ext cx="1891563" cy="796579"/>
              </a:xfrm>
              <a:prstGeom prst="bentArrow">
                <a:avLst>
                  <a:gd name="adj1" fmla="val 4972"/>
                  <a:gd name="adj2" fmla="val 12125"/>
                  <a:gd name="adj3" fmla="val 16416"/>
                  <a:gd name="adj4" fmla="val 437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화살표: 굽음 25">
                <a:extLst>
                  <a:ext uri="{FF2B5EF4-FFF2-40B4-BE49-F238E27FC236}">
                    <a16:creationId xmlns:a16="http://schemas.microsoft.com/office/drawing/2014/main" id="{A79ECDCD-BA17-B620-BF67-FAD14C484E8E}"/>
                  </a:ext>
                </a:extLst>
              </p:cNvPr>
              <p:cNvSpPr/>
              <p:nvPr/>
            </p:nvSpPr>
            <p:spPr>
              <a:xfrm rot="10800000">
                <a:off x="9613899" y="5281676"/>
                <a:ext cx="1891563" cy="796579"/>
              </a:xfrm>
              <a:prstGeom prst="bentArrow">
                <a:avLst>
                  <a:gd name="adj1" fmla="val 4972"/>
                  <a:gd name="adj2" fmla="val 12125"/>
                  <a:gd name="adj3" fmla="val 16416"/>
                  <a:gd name="adj4" fmla="val 437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화살표: 굽음 26">
                <a:extLst>
                  <a:ext uri="{FF2B5EF4-FFF2-40B4-BE49-F238E27FC236}">
                    <a16:creationId xmlns:a16="http://schemas.microsoft.com/office/drawing/2014/main" id="{A9604936-F066-7BFF-0691-4AC1689B288B}"/>
                  </a:ext>
                </a:extLst>
              </p:cNvPr>
              <p:cNvSpPr/>
              <p:nvPr/>
            </p:nvSpPr>
            <p:spPr>
              <a:xfrm rot="5400000">
                <a:off x="10096059" y="3745967"/>
                <a:ext cx="774840" cy="2239819"/>
              </a:xfrm>
              <a:prstGeom prst="bentArrow">
                <a:avLst>
                  <a:gd name="adj1" fmla="val 6168"/>
                  <a:gd name="adj2" fmla="val 15166"/>
                  <a:gd name="adj3" fmla="val 15166"/>
                  <a:gd name="adj4" fmla="val 3719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화살표: 굽음 27">
                <a:extLst>
                  <a:ext uri="{FF2B5EF4-FFF2-40B4-BE49-F238E27FC236}">
                    <a16:creationId xmlns:a16="http://schemas.microsoft.com/office/drawing/2014/main" id="{DC888EC4-03E1-8617-332A-948CB32EFEDF}"/>
                  </a:ext>
                </a:extLst>
              </p:cNvPr>
              <p:cNvSpPr/>
              <p:nvPr/>
            </p:nvSpPr>
            <p:spPr>
              <a:xfrm rot="16200000">
                <a:off x="8063531" y="4503382"/>
                <a:ext cx="774840" cy="2239819"/>
              </a:xfrm>
              <a:prstGeom prst="bentArrow">
                <a:avLst>
                  <a:gd name="adj1" fmla="val 6168"/>
                  <a:gd name="adj2" fmla="val 15166"/>
                  <a:gd name="adj3" fmla="val 15166"/>
                  <a:gd name="adj4" fmla="val 3719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238DE330-D3CB-03E0-303C-EB0FC4D09F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84893" y="4658091"/>
                <a:ext cx="0" cy="1136104"/>
              </a:xfrm>
              <a:prstGeom prst="line">
                <a:avLst/>
              </a:prstGeom>
              <a:grpFill/>
              <a:ln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CD6554D-C2B3-0BB6-A02D-CE103A96AA39}"/>
              </a:ext>
            </a:extLst>
          </p:cNvPr>
          <p:cNvSpPr txBox="1"/>
          <p:nvPr/>
        </p:nvSpPr>
        <p:spPr>
          <a:xfrm>
            <a:off x="6686102" y="1749563"/>
            <a:ext cx="1674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solidFill>
                  <a:schemeClr val="bg1">
                    <a:lumMod val="95000"/>
                  </a:schemeClr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메카닉스</a:t>
            </a:r>
            <a:endParaRPr lang="en-US" altLang="ko-KR" dirty="0">
              <a:solidFill>
                <a:schemeClr val="bg1">
                  <a:lumMod val="95000"/>
                </a:schemeClr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7AC8C0-F0D0-3C78-427B-BCF113EF45E0}"/>
              </a:ext>
            </a:extLst>
          </p:cNvPr>
          <p:cNvSpPr txBox="1"/>
          <p:nvPr/>
        </p:nvSpPr>
        <p:spPr>
          <a:xfrm>
            <a:off x="7705117" y="2599067"/>
            <a:ext cx="1833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얼음 캐기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17246FCE-9A9C-5455-7296-BB6A4094FFD5}"/>
              </a:ext>
            </a:extLst>
          </p:cNvPr>
          <p:cNvSpPr txBox="1"/>
          <p:nvPr/>
        </p:nvSpPr>
        <p:spPr>
          <a:xfrm>
            <a:off x="9476012" y="2599067"/>
            <a:ext cx="1833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자원 획득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4DC77761-240D-F162-BD10-78F6B18377E3}"/>
              </a:ext>
            </a:extLst>
          </p:cNvPr>
          <p:cNvSpPr txBox="1"/>
          <p:nvPr/>
        </p:nvSpPr>
        <p:spPr>
          <a:xfrm>
            <a:off x="7715109" y="3215397"/>
            <a:ext cx="1833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자원 소모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AFFA344E-F6D4-6A59-6A9D-5518F0BDF042}"/>
              </a:ext>
            </a:extLst>
          </p:cNvPr>
          <p:cNvSpPr txBox="1"/>
          <p:nvPr/>
        </p:nvSpPr>
        <p:spPr>
          <a:xfrm>
            <a:off x="9476012" y="3215397"/>
            <a:ext cx="1833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강화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6220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99BAE2-7FA7-4437-A6B5-1522F82A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C76E700-CAAB-7D77-64DB-79BBE26D1AC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게임 컨셉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35152DC-835C-9CE1-3327-B4C48972501F}"/>
              </a:ext>
            </a:extLst>
          </p:cNvPr>
          <p:cNvCxnSpPr>
            <a:cxnSpLocks/>
          </p:cNvCxnSpPr>
          <p:nvPr/>
        </p:nvCxnSpPr>
        <p:spPr>
          <a:xfrm>
            <a:off x="0" y="1460500"/>
            <a:ext cx="1219200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영화 '투모로우'가 한국에서만 제목이 다른 이유 | 오펀 디스커스">
            <a:extLst>
              <a:ext uri="{FF2B5EF4-FFF2-40B4-BE49-F238E27FC236}">
                <a16:creationId xmlns:a16="http://schemas.microsoft.com/office/drawing/2014/main" id="{B6BA1EE2-D80E-866A-D049-FFBF9D43A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833" y="3707691"/>
            <a:ext cx="4803167" cy="2678690"/>
          </a:xfrm>
          <a:prstGeom prst="rect">
            <a:avLst/>
          </a:prstGeom>
          <a:noFill/>
          <a:ln w="12700">
            <a:solidFill>
              <a:schemeClr val="bg1">
                <a:lumMod val="9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E57CD3A3-41DC-5536-D0C1-67B8FED48B95}"/>
              </a:ext>
            </a:extLst>
          </p:cNvPr>
          <p:cNvSpPr txBox="1">
            <a:spLocks/>
          </p:cNvSpPr>
          <p:nvPr/>
        </p:nvSpPr>
        <p:spPr>
          <a:xfrm>
            <a:off x="3007469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세계관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ECFD8E-87C5-2777-B7D1-07A1CE19016C}"/>
              </a:ext>
            </a:extLst>
          </p:cNvPr>
          <p:cNvSpPr txBox="1"/>
          <p:nvPr/>
        </p:nvSpPr>
        <p:spPr>
          <a:xfrm>
            <a:off x="1237034" y="184596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시공간적 배경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4E16A9-E411-09F1-F72A-2E7F531DC7D2}"/>
              </a:ext>
            </a:extLst>
          </p:cNvPr>
          <p:cNvSpPr txBox="1"/>
          <p:nvPr/>
        </p:nvSpPr>
        <p:spPr>
          <a:xfrm>
            <a:off x="1568450" y="2462897"/>
            <a:ext cx="9055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급격한 온난화로 남극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북극의 빙하가 녹고 바닷물이 차가워지며 해류의 흐름이 바뀌게 되어 </a:t>
            </a:r>
            <a:b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결국 빙하가 전부 뒤덮어버린 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2070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지구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 외곽 지역</a:t>
            </a:r>
            <a:endParaRPr lang="en-US" altLang="ko-KR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0CF433-7444-9410-3C7A-FD4FCBC66CB6}"/>
              </a:ext>
            </a:extLst>
          </p:cNvPr>
          <p:cNvSpPr txBox="1"/>
          <p:nvPr/>
        </p:nvSpPr>
        <p:spPr>
          <a:xfrm>
            <a:off x="1237034" y="351794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주요 갈등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E5840B-8AC4-4135-0135-127E553F64C8}"/>
              </a:ext>
            </a:extLst>
          </p:cNvPr>
          <p:cNvSpPr txBox="1"/>
          <p:nvPr/>
        </p:nvSpPr>
        <p:spPr>
          <a:xfrm>
            <a:off x="1568450" y="4134877"/>
            <a:ext cx="4803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모든 자원들이 빙하 아래에 얼어붙어 있음</a:t>
            </a:r>
            <a:endParaRPr lang="en-US" altLang="ko-KR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5565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8562EF-C93B-522D-FE21-AD5E90229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BE128AA-6F82-9736-7E63-3B0B4C11F711}"/>
              </a:ext>
            </a:extLst>
          </p:cNvPr>
          <p:cNvSpPr txBox="1"/>
          <p:nvPr/>
        </p:nvSpPr>
        <p:spPr>
          <a:xfrm>
            <a:off x="1568450" y="2462897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빙하 속에 얼어붙은 자원을 캐내고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끝없이 찾아 오는 추위에서 살아남아라</a:t>
            </a:r>
            <a:endParaRPr lang="en-US" altLang="ko-KR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E429DE6-C493-F865-C06B-08A5715643B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게임 컨셉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077F1A8-09BE-D35F-1AFC-637F38876EB6}"/>
              </a:ext>
            </a:extLst>
          </p:cNvPr>
          <p:cNvCxnSpPr>
            <a:cxnSpLocks/>
          </p:cNvCxnSpPr>
          <p:nvPr/>
        </p:nvCxnSpPr>
        <p:spPr>
          <a:xfrm>
            <a:off x="0" y="1460500"/>
            <a:ext cx="1219200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3CC5C1E8-962D-1DA9-1D37-96DFF6BF932A}"/>
              </a:ext>
            </a:extLst>
          </p:cNvPr>
          <p:cNvSpPr txBox="1">
            <a:spLocks/>
          </p:cNvSpPr>
          <p:nvPr/>
        </p:nvSpPr>
        <p:spPr>
          <a:xfrm>
            <a:off x="3007469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테마</a:t>
            </a:r>
          </a:p>
        </p:txBody>
      </p:sp>
      <p:pic>
        <p:nvPicPr>
          <p:cNvPr id="3074" name="Picture 2" descr="입력 프롬프트를 기반으로 생성된 이미지">
            <a:extLst>
              <a:ext uri="{FF2B5EF4-FFF2-40B4-BE49-F238E27FC236}">
                <a16:creationId xmlns:a16="http://schemas.microsoft.com/office/drawing/2014/main" id="{FA96FF67-143B-BA5F-D495-F72470B05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162" y="3429000"/>
            <a:ext cx="4893013" cy="2668858"/>
          </a:xfrm>
          <a:prstGeom prst="rect">
            <a:avLst/>
          </a:prstGeom>
          <a:noFill/>
          <a:ln w="12700">
            <a:solidFill>
              <a:schemeClr val="bg1">
                <a:lumMod val="9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7B9221-3624-C42F-67AA-5FB0B8C7C57F}"/>
              </a:ext>
            </a:extLst>
          </p:cNvPr>
          <p:cNvSpPr txBox="1"/>
          <p:nvPr/>
        </p:nvSpPr>
        <p:spPr>
          <a:xfrm>
            <a:off x="1237034" y="1845960"/>
            <a:ext cx="5189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얼어붙은 세상에서 살아남기</a:t>
            </a:r>
            <a:endParaRPr lang="en-US" altLang="ko-KR" sz="2400" dirty="0">
              <a:solidFill>
                <a:schemeClr val="accent4">
                  <a:lumMod val="40000"/>
                  <a:lumOff val="60000"/>
                </a:schemeClr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1671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E9054-FBDF-A66A-FA35-66C0A49EE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314C8F4-10E3-88B5-6910-FEC6588C8521}"/>
              </a:ext>
            </a:extLst>
          </p:cNvPr>
          <p:cNvCxnSpPr>
            <a:cxnSpLocks/>
          </p:cNvCxnSpPr>
          <p:nvPr/>
        </p:nvCxnSpPr>
        <p:spPr>
          <a:xfrm>
            <a:off x="0" y="4543357"/>
            <a:ext cx="12192000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3824F44-6C34-F3E3-BCA7-0966FBF1224B}"/>
              </a:ext>
            </a:extLst>
          </p:cNvPr>
          <p:cNvSpPr txBox="1"/>
          <p:nvPr/>
        </p:nvSpPr>
        <p:spPr>
          <a:xfrm>
            <a:off x="912914" y="3921430"/>
            <a:ext cx="3201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tx2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03. </a:t>
            </a:r>
            <a:r>
              <a:rPr lang="ko-KR" altLang="en-US" sz="3200" dirty="0">
                <a:solidFill>
                  <a:schemeClr val="tx2">
                    <a:lumMod val="5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요소별 컨셉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20CE36-D3EC-64E3-EC60-802C43E9DD89}"/>
              </a:ext>
            </a:extLst>
          </p:cNvPr>
          <p:cNvSpPr txBox="1"/>
          <p:nvPr/>
        </p:nvSpPr>
        <p:spPr>
          <a:xfrm>
            <a:off x="1347483" y="458051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2">
                    <a:lumMod val="5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캐릭터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37B3E-C30C-4AE1-8AE2-F41CDDF38348}"/>
              </a:ext>
            </a:extLst>
          </p:cNvPr>
          <p:cNvSpPr txBox="1"/>
          <p:nvPr/>
        </p:nvSpPr>
        <p:spPr>
          <a:xfrm>
            <a:off x="1347483" y="4942699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2">
                    <a:lumMod val="5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채광 수단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A93500-A8FE-296D-C092-5452EB8F1BE7}"/>
              </a:ext>
            </a:extLst>
          </p:cNvPr>
          <p:cNvSpPr txBox="1"/>
          <p:nvPr/>
        </p:nvSpPr>
        <p:spPr>
          <a:xfrm>
            <a:off x="1347483" y="5304887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tx2">
                    <a:lumMod val="5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스탯</a:t>
            </a:r>
            <a:endParaRPr lang="ko-KR" altLang="en-US" dirty="0">
              <a:solidFill>
                <a:schemeClr val="tx2">
                  <a:lumMod val="5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36BD5E-8D50-0455-E6AE-89401CDA22A6}"/>
              </a:ext>
            </a:extLst>
          </p:cNvPr>
          <p:cNvSpPr txBox="1"/>
          <p:nvPr/>
        </p:nvSpPr>
        <p:spPr>
          <a:xfrm>
            <a:off x="3048000" y="4587653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tx2">
                    <a:lumMod val="5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하데스의</a:t>
            </a:r>
            <a:r>
              <a:rPr lang="ko-KR" altLang="en-US" dirty="0">
                <a:solidFill>
                  <a:schemeClr val="tx2">
                    <a:lumMod val="5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제안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28AECD-EE48-E654-897D-62BA6BD60CFA}"/>
              </a:ext>
            </a:extLst>
          </p:cNvPr>
          <p:cNvSpPr txBox="1"/>
          <p:nvPr/>
        </p:nvSpPr>
        <p:spPr>
          <a:xfrm>
            <a:off x="3048000" y="4949842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2">
                    <a:lumMod val="5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얼음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1F6E9E-19AE-CF82-8B4F-A810F83C7F11}"/>
              </a:ext>
            </a:extLst>
          </p:cNvPr>
          <p:cNvSpPr txBox="1"/>
          <p:nvPr/>
        </p:nvSpPr>
        <p:spPr>
          <a:xfrm>
            <a:off x="3048000" y="531203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2">
                    <a:lumMod val="5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자원</a:t>
            </a:r>
          </a:p>
        </p:txBody>
      </p:sp>
    </p:spTree>
    <p:extLst>
      <p:ext uri="{BB962C8B-B14F-4D97-AF65-F5344CB8AC3E}">
        <p14:creationId xmlns:p14="http://schemas.microsoft.com/office/powerpoint/2010/main" val="3476573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5C6F5-734F-52E4-D185-4D4B9622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4D8F08A-A3B3-D1F8-9ECD-A49DF0AC08D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요소별 컨셉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39911C8-331A-AE68-304E-A365450FEA53}"/>
              </a:ext>
            </a:extLst>
          </p:cNvPr>
          <p:cNvCxnSpPr>
            <a:cxnSpLocks/>
          </p:cNvCxnSpPr>
          <p:nvPr/>
        </p:nvCxnSpPr>
        <p:spPr>
          <a:xfrm>
            <a:off x="0" y="1460500"/>
            <a:ext cx="1219200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05729784-5241-8C77-A95E-ACCF2EE2BA6C}"/>
              </a:ext>
            </a:extLst>
          </p:cNvPr>
          <p:cNvSpPr txBox="1">
            <a:spLocks/>
          </p:cNvSpPr>
          <p:nvPr/>
        </p:nvSpPr>
        <p:spPr>
          <a:xfrm>
            <a:off x="35179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캐릭터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FA2B68-A03B-EB94-85D9-E1F9EA68263B}"/>
              </a:ext>
            </a:extLst>
          </p:cNvPr>
          <p:cNvSpPr txBox="1"/>
          <p:nvPr/>
        </p:nvSpPr>
        <p:spPr>
          <a:xfrm>
            <a:off x="1237034" y="1845960"/>
            <a:ext cx="2280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주인공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플레이어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FE99F-1D40-4EDF-0E37-E79F34B10F6C}"/>
              </a:ext>
            </a:extLst>
          </p:cNvPr>
          <p:cNvSpPr txBox="1"/>
          <p:nvPr/>
        </p:nvSpPr>
        <p:spPr>
          <a:xfrm>
            <a:off x="1568450" y="2462897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생존자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F7360C-D13F-F844-0490-B8590F47ECC7}"/>
              </a:ext>
            </a:extLst>
          </p:cNvPr>
          <p:cNvSpPr txBox="1"/>
          <p:nvPr/>
        </p:nvSpPr>
        <p:spPr>
          <a:xfrm>
            <a:off x="1700449" y="2786063"/>
            <a:ext cx="905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거센 추위에도 굴하지 않는 끈질긴 정신력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홀로 살아남았지만 삶에 대한 의지가 강함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21A2D-1E8A-CD09-B646-3F0A37022C3E}"/>
              </a:ext>
            </a:extLst>
          </p:cNvPr>
          <p:cNvSpPr txBox="1"/>
          <p:nvPr/>
        </p:nvSpPr>
        <p:spPr>
          <a:xfrm>
            <a:off x="1568450" y="3342827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생존 방식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53C974-A5DB-74AB-4522-49BB599696D2}"/>
              </a:ext>
            </a:extLst>
          </p:cNvPr>
          <p:cNvSpPr txBox="1"/>
          <p:nvPr/>
        </p:nvSpPr>
        <p:spPr>
          <a:xfrm>
            <a:off x="1700449" y="3665993"/>
            <a:ext cx="905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꽁꽁 얼어버린 얼음들을 깨부수고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안에서 획득하는 식량과 자원으로 연명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AAE746-D06C-49A8-EE72-040A8A566549}"/>
              </a:ext>
            </a:extLst>
          </p:cNvPr>
          <p:cNvSpPr txBox="1"/>
          <p:nvPr/>
        </p:nvSpPr>
        <p:spPr>
          <a:xfrm>
            <a:off x="1568450" y="4222757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능력치</a:t>
            </a:r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</a:t>
            </a:r>
            <a:r>
              <a:rPr lang="ko-KR" altLang="en-US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스탯</a:t>
            </a:r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2B4190-4BCF-B077-8FBB-97BE08A5C192}"/>
              </a:ext>
            </a:extLst>
          </p:cNvPr>
          <p:cNvSpPr txBox="1"/>
          <p:nvPr/>
        </p:nvSpPr>
        <p:spPr>
          <a:xfrm>
            <a:off x="1700449" y="4545923"/>
            <a:ext cx="905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반복된 작업으로 쌓인 경험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(Exp)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소모해 생존에 필요한 능력치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스탯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선택하여 올릴 수 있음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3168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71A50-3FA4-59A8-FF14-9ADA19873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3650F6C-2119-CDF2-8E30-87DFC7DDC29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요소별 컨셉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93533C8-7DD2-0DAA-227B-60A4147F43F5}"/>
              </a:ext>
            </a:extLst>
          </p:cNvPr>
          <p:cNvCxnSpPr>
            <a:cxnSpLocks/>
          </p:cNvCxnSpPr>
          <p:nvPr/>
        </p:nvCxnSpPr>
        <p:spPr>
          <a:xfrm>
            <a:off x="0" y="1460500"/>
            <a:ext cx="1219200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240B0963-246D-0210-0010-78EC971E1EB3}"/>
              </a:ext>
            </a:extLst>
          </p:cNvPr>
          <p:cNvSpPr txBox="1">
            <a:spLocks/>
          </p:cNvSpPr>
          <p:nvPr/>
        </p:nvSpPr>
        <p:spPr>
          <a:xfrm>
            <a:off x="35179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캐릭터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E5CD57-712A-BB05-D530-45581EEE7913}"/>
              </a:ext>
            </a:extLst>
          </p:cNvPr>
          <p:cNvSpPr txBox="1"/>
          <p:nvPr/>
        </p:nvSpPr>
        <p:spPr>
          <a:xfrm>
            <a:off x="1237033" y="1845960"/>
            <a:ext cx="2707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하데스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상점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캐릭터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97EF32-0A02-6F7C-45F8-19FAD3E28E0B}"/>
              </a:ext>
            </a:extLst>
          </p:cNvPr>
          <p:cNvSpPr txBox="1"/>
          <p:nvPr/>
        </p:nvSpPr>
        <p:spPr>
          <a:xfrm>
            <a:off x="1568450" y="2462897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빛나는 곡괭이 판매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12B4A8-C408-9E63-345F-54E8B88A2275}"/>
              </a:ext>
            </a:extLst>
          </p:cNvPr>
          <p:cNvSpPr txBox="1"/>
          <p:nvPr/>
        </p:nvSpPr>
        <p:spPr>
          <a:xfrm>
            <a:off x="1700449" y="2786063"/>
            <a:ext cx="905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기본으로 지급되는 것보다 좋은 성능의 곡괭이를 판매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D8B5EC-9F97-690D-B281-9A801C5822DA}"/>
              </a:ext>
            </a:extLst>
          </p:cNvPr>
          <p:cNvSpPr txBox="1"/>
          <p:nvPr/>
        </p:nvSpPr>
        <p:spPr>
          <a:xfrm>
            <a:off x="1568450" y="3342827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비밀의 고서 판매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C1F7DC-9154-31F1-DEEE-1946BF2510A1}"/>
              </a:ext>
            </a:extLst>
          </p:cNvPr>
          <p:cNvSpPr txBox="1"/>
          <p:nvPr/>
        </p:nvSpPr>
        <p:spPr>
          <a:xfrm>
            <a:off x="1700449" y="3665993"/>
            <a:ext cx="905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알 수 없는 어두운 기운이 새어 나오는 책이다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왠지 모르게 끌려들어가는 느낌이다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]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 시 마법 해금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유저에게 직접적으로 마법의 해금 조건이라고 언급하지 않음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99D31AE-D31D-9E9D-17FA-59E1299A9E4E}"/>
              </a:ext>
            </a:extLst>
          </p:cNvPr>
          <p:cNvCxnSpPr>
            <a:cxnSpLocks/>
          </p:cNvCxnSpPr>
          <p:nvPr/>
        </p:nvCxnSpPr>
        <p:spPr>
          <a:xfrm>
            <a:off x="838200" y="4341352"/>
            <a:ext cx="9525000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5B571B4-4ADC-FB21-E863-3C846171CB6B}"/>
              </a:ext>
            </a:extLst>
          </p:cNvPr>
          <p:cNvSpPr txBox="1"/>
          <p:nvPr/>
        </p:nvSpPr>
        <p:spPr>
          <a:xfrm>
            <a:off x="1568450" y="4590339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관찰자</a:t>
            </a:r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</a:t>
            </a:r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조력자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EEEB36-1EF2-12A1-71DF-DC1FA70B54CB}"/>
              </a:ext>
            </a:extLst>
          </p:cNvPr>
          <p:cNvSpPr txBox="1"/>
          <p:nvPr/>
        </p:nvSpPr>
        <p:spPr>
          <a:xfrm>
            <a:off x="1700449" y="5053389"/>
            <a:ext cx="90551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홀로 살아남은 플레이어가 흥미로워 곁에서 지켜보고 있음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플레이어의 게임 진행에 도움이 되는 곡괭이를 판매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하데스의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축복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선택지를 제공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식량을 소모하여 버프를 구매할 수 있음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8196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FD101-3661-62C7-E0BD-11908A131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D6585C3-78DC-57B1-1143-6651AE71A86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요소별 컨셉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00A24AB-E37C-93A2-3C78-2561E382D495}"/>
              </a:ext>
            </a:extLst>
          </p:cNvPr>
          <p:cNvCxnSpPr>
            <a:cxnSpLocks/>
          </p:cNvCxnSpPr>
          <p:nvPr/>
        </p:nvCxnSpPr>
        <p:spPr>
          <a:xfrm>
            <a:off x="0" y="1460500"/>
            <a:ext cx="1219200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7701181-B6B5-8485-172D-31A0F521C33C}"/>
              </a:ext>
            </a:extLst>
          </p:cNvPr>
          <p:cNvSpPr txBox="1">
            <a:spLocks/>
          </p:cNvSpPr>
          <p:nvPr/>
        </p:nvSpPr>
        <p:spPr>
          <a:xfrm>
            <a:off x="35179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채광 수단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9683C2-0FA8-D0A3-8284-CF576564E24C}"/>
              </a:ext>
            </a:extLst>
          </p:cNvPr>
          <p:cNvSpPr txBox="1"/>
          <p:nvPr/>
        </p:nvSpPr>
        <p:spPr>
          <a:xfrm>
            <a:off x="1237034" y="1845960"/>
            <a:ext cx="299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곡괭이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C7FBCA-4A92-A7BC-6443-DFBBD81CF389}"/>
              </a:ext>
            </a:extLst>
          </p:cNvPr>
          <p:cNvSpPr txBox="1"/>
          <p:nvPr/>
        </p:nvSpPr>
        <p:spPr>
          <a:xfrm>
            <a:off x="1568450" y="2462897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메카니즘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D3B90-8091-3867-309C-A2DB3F4D4AC1}"/>
              </a:ext>
            </a:extLst>
          </p:cNvPr>
          <p:cNvSpPr txBox="1"/>
          <p:nvPr/>
        </p:nvSpPr>
        <p:spPr>
          <a:xfrm>
            <a:off x="1700449" y="2786063"/>
            <a:ext cx="905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마우스 커서의 위치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곡괭이의 타격 위치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플레이어가 마우스를 둔 곳을 지속하여 채굴함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AB2022-99B0-E4CD-A445-8520AA5E9236}"/>
              </a:ext>
            </a:extLst>
          </p:cNvPr>
          <p:cNvSpPr txBox="1"/>
          <p:nvPr/>
        </p:nvSpPr>
        <p:spPr>
          <a:xfrm>
            <a:off x="3619010" y="4764128"/>
            <a:ext cx="2476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기본 곡괭이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D6AE1B-47F3-5444-7033-DACA39DFBDA3}"/>
              </a:ext>
            </a:extLst>
          </p:cNvPr>
          <p:cNvSpPr txBox="1"/>
          <p:nvPr/>
        </p:nvSpPr>
        <p:spPr>
          <a:xfrm>
            <a:off x="3751008" y="5311133"/>
            <a:ext cx="2778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낡은 곡괭이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얼음을 캘 수 있다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032A8B-9EB9-1498-ECB0-C1573F58077E}"/>
              </a:ext>
            </a:extLst>
          </p:cNvPr>
          <p:cNvSpPr txBox="1"/>
          <p:nvPr/>
        </p:nvSpPr>
        <p:spPr>
          <a:xfrm>
            <a:off x="1568450" y="3244810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업그레이드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87B39B-4D5D-FCF6-7C58-7C2EE0E06FD7}"/>
              </a:ext>
            </a:extLst>
          </p:cNvPr>
          <p:cNvSpPr txBox="1"/>
          <p:nvPr/>
        </p:nvSpPr>
        <p:spPr>
          <a:xfrm>
            <a:off x="1700449" y="3567976"/>
            <a:ext cx="905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식량을 소모하여 하데스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상점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에게서 상위 등급의 곡괭이 교환 가능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74F8013-76A6-BB46-1D9F-A42FDE633B1B}"/>
              </a:ext>
            </a:extLst>
          </p:cNvPr>
          <p:cNvGrpSpPr/>
          <p:nvPr/>
        </p:nvGrpSpPr>
        <p:grpSpPr>
          <a:xfrm>
            <a:off x="1202225" y="3567976"/>
            <a:ext cx="2172786" cy="3779466"/>
            <a:chOff x="1202225" y="3696076"/>
            <a:chExt cx="2172786" cy="377946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F88D98F1-2872-EE4A-CB22-DFDF3D90CB6C}"/>
                </a:ext>
              </a:extLst>
            </p:cNvPr>
            <p:cNvSpPr/>
            <p:nvPr/>
          </p:nvSpPr>
          <p:spPr>
            <a:xfrm>
              <a:off x="1360232" y="4479009"/>
              <a:ext cx="2014779" cy="201477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20CE420-59A9-7673-F571-BA38F06AA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00000">
              <a:off x="343546" y="4554755"/>
              <a:ext cx="3779466" cy="2062107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93F44E0-9488-FF82-433B-D6DF6181E2ED}"/>
              </a:ext>
            </a:extLst>
          </p:cNvPr>
          <p:cNvGrpSpPr/>
          <p:nvPr/>
        </p:nvGrpSpPr>
        <p:grpSpPr>
          <a:xfrm>
            <a:off x="6544630" y="3571900"/>
            <a:ext cx="2362865" cy="3779466"/>
            <a:chOff x="6544630" y="3700000"/>
            <a:chExt cx="2362865" cy="3779466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96478A6-4EAC-FBCF-42CD-DCE68F360111}"/>
                </a:ext>
              </a:extLst>
            </p:cNvPr>
            <p:cNvSpPr/>
            <p:nvPr/>
          </p:nvSpPr>
          <p:spPr>
            <a:xfrm>
              <a:off x="6816415" y="4479009"/>
              <a:ext cx="2014779" cy="201477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4C4A707-0D42-2CB7-5323-407BA3D1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00000" flipH="1">
              <a:off x="5836330" y="4408300"/>
              <a:ext cx="3779466" cy="2362865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37C6DBE-6D77-5E27-D049-1C807806C1A9}"/>
              </a:ext>
            </a:extLst>
          </p:cNvPr>
          <p:cNvSpPr txBox="1"/>
          <p:nvPr/>
        </p:nvSpPr>
        <p:spPr>
          <a:xfrm>
            <a:off x="9113726" y="4764128"/>
            <a:ext cx="2476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빛나는 곡괭이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7F5382-5A6A-0DC8-9238-DE587172DA6B}"/>
              </a:ext>
            </a:extLst>
          </p:cNvPr>
          <p:cNvSpPr txBox="1"/>
          <p:nvPr/>
        </p:nvSpPr>
        <p:spPr>
          <a:xfrm>
            <a:off x="9245724" y="5311133"/>
            <a:ext cx="27783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눈부시게 빛나는 곡괭이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채굴 공격력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공격 속도 증가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얼음을 더 빨리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캘 수 있다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5085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3CB35-955F-149B-1913-796AFD6A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72F3540-93CD-BC4A-5D25-172A60DEDD25}"/>
              </a:ext>
            </a:extLst>
          </p:cNvPr>
          <p:cNvSpPr/>
          <p:nvPr/>
        </p:nvSpPr>
        <p:spPr>
          <a:xfrm>
            <a:off x="9360806" y="4351510"/>
            <a:ext cx="1510655" cy="1510655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049" name="그림 2048">
            <a:extLst>
              <a:ext uri="{FF2B5EF4-FFF2-40B4-BE49-F238E27FC236}">
                <a16:creationId xmlns:a16="http://schemas.microsoft.com/office/drawing/2014/main" id="{7469E12D-1A73-8EFF-0568-E8E370E56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3965" y="4325556"/>
            <a:ext cx="2844335" cy="1551051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FD971831-DFB2-5ED5-6EEF-2E556E0CA0A0}"/>
              </a:ext>
            </a:extLst>
          </p:cNvPr>
          <p:cNvSpPr/>
          <p:nvPr/>
        </p:nvSpPr>
        <p:spPr>
          <a:xfrm>
            <a:off x="6247767" y="4350718"/>
            <a:ext cx="1510655" cy="1510655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206A373-0BE4-8473-2E71-1D74F25D7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706" y="4231414"/>
            <a:ext cx="3204775" cy="174760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0BB879A7-0DFE-E8A7-BDE5-0A94DC6A664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요소별 컨셉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67A499D-BAB5-4929-A72B-364E4BEC7D76}"/>
              </a:ext>
            </a:extLst>
          </p:cNvPr>
          <p:cNvCxnSpPr>
            <a:cxnSpLocks/>
          </p:cNvCxnSpPr>
          <p:nvPr/>
        </p:nvCxnSpPr>
        <p:spPr>
          <a:xfrm>
            <a:off x="0" y="1460500"/>
            <a:ext cx="1219200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53602CD4-942E-E73B-DD53-DFCBCF718419}"/>
              </a:ext>
            </a:extLst>
          </p:cNvPr>
          <p:cNvSpPr txBox="1">
            <a:spLocks/>
          </p:cNvSpPr>
          <p:nvPr/>
        </p:nvSpPr>
        <p:spPr>
          <a:xfrm>
            <a:off x="35179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채광 수단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F442E8-ECB3-5705-3613-763EF3348290}"/>
              </a:ext>
            </a:extLst>
          </p:cNvPr>
          <p:cNvSpPr txBox="1"/>
          <p:nvPr/>
        </p:nvSpPr>
        <p:spPr>
          <a:xfrm>
            <a:off x="1237034" y="1845960"/>
            <a:ext cx="299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마법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CA5919-383C-A6C9-2F1E-DBF1FDA323DF}"/>
              </a:ext>
            </a:extLst>
          </p:cNvPr>
          <p:cNvSpPr txBox="1"/>
          <p:nvPr/>
        </p:nvSpPr>
        <p:spPr>
          <a:xfrm>
            <a:off x="1568450" y="2462897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메카니즘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9252B-8B77-6C97-32CE-8C42591A283E}"/>
              </a:ext>
            </a:extLst>
          </p:cNvPr>
          <p:cNvSpPr txBox="1"/>
          <p:nvPr/>
        </p:nvSpPr>
        <p:spPr>
          <a:xfrm>
            <a:off x="1700449" y="2786063"/>
            <a:ext cx="905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맵의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랜덤한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위치에 낮은 확률로 마법 시전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플레이어의 커서 위치와 상관 없음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24DD32-FAE3-8B27-DA0B-02560DF29B1D}"/>
              </a:ext>
            </a:extLst>
          </p:cNvPr>
          <p:cNvSpPr txBox="1"/>
          <p:nvPr/>
        </p:nvSpPr>
        <p:spPr>
          <a:xfrm>
            <a:off x="1568450" y="3244810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마법 강화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16E381-B16A-DDEE-8151-25DB2AB5068B}"/>
              </a:ext>
            </a:extLst>
          </p:cNvPr>
          <p:cNvSpPr txBox="1"/>
          <p:nvPr/>
        </p:nvSpPr>
        <p:spPr>
          <a:xfrm>
            <a:off x="1700449" y="3567976"/>
            <a:ext cx="905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고서를 소모하여 </a:t>
            </a: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스탯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–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마법 강화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A8019C-74D7-94C8-7170-A6284775D3D6}"/>
              </a:ext>
            </a:extLst>
          </p:cNvPr>
          <p:cNvSpPr/>
          <p:nvPr/>
        </p:nvSpPr>
        <p:spPr>
          <a:xfrm>
            <a:off x="2075866" y="4349889"/>
            <a:ext cx="1510655" cy="1510655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3C8695C-DCB1-B272-4B42-48E375A5D0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450" y="4459685"/>
            <a:ext cx="2525486" cy="137717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28EAA5-2D50-AA63-8078-8B6C979055CA}"/>
              </a:ext>
            </a:extLst>
          </p:cNvPr>
          <p:cNvSpPr txBox="1"/>
          <p:nvPr/>
        </p:nvSpPr>
        <p:spPr>
          <a:xfrm>
            <a:off x="1592698" y="5946660"/>
            <a:ext cx="2476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헬 파이어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기본 습득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E88AE6-9B65-B540-BFF8-225C0276F050}"/>
              </a:ext>
            </a:extLst>
          </p:cNvPr>
          <p:cNvSpPr txBox="1"/>
          <p:nvPr/>
        </p:nvSpPr>
        <p:spPr>
          <a:xfrm>
            <a:off x="5650849" y="5946660"/>
            <a:ext cx="2704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공격력 증가</a:t>
            </a:r>
            <a:endParaRPr lang="en-US" altLang="ko-KR" dirty="0">
              <a:solidFill>
                <a:schemeClr val="bg1">
                  <a:lumMod val="9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E9C7CEE-FB5B-C00E-BFAA-AE45EE2B91CB}"/>
              </a:ext>
            </a:extLst>
          </p:cNvPr>
          <p:cNvCxnSpPr>
            <a:cxnSpLocks/>
          </p:cNvCxnSpPr>
          <p:nvPr/>
        </p:nvCxnSpPr>
        <p:spPr>
          <a:xfrm>
            <a:off x="3944257" y="5127607"/>
            <a:ext cx="1923143" cy="0"/>
          </a:xfrm>
          <a:prstGeom prst="straightConnector1">
            <a:avLst/>
          </a:prstGeom>
          <a:ln w="254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C7E0EE0-3FFE-C514-3020-9E0E6D0D73FE}"/>
              </a:ext>
            </a:extLst>
          </p:cNvPr>
          <p:cNvSpPr txBox="1"/>
          <p:nvPr/>
        </p:nvSpPr>
        <p:spPr>
          <a:xfrm>
            <a:off x="8044543" y="4865914"/>
            <a:ext cx="105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OR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051" name="TextBox 2050">
            <a:extLst>
              <a:ext uri="{FF2B5EF4-FFF2-40B4-BE49-F238E27FC236}">
                <a16:creationId xmlns:a16="http://schemas.microsoft.com/office/drawing/2014/main" id="{6230A1B2-EF5F-D6B4-C35B-3ABFC890490A}"/>
              </a:ext>
            </a:extLst>
          </p:cNvPr>
          <p:cNvSpPr txBox="1"/>
          <p:nvPr/>
        </p:nvSpPr>
        <p:spPr>
          <a:xfrm>
            <a:off x="8763888" y="5946660"/>
            <a:ext cx="2704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공격 타수 증가</a:t>
            </a:r>
            <a:endParaRPr lang="en-US" altLang="ko-KR" dirty="0">
              <a:solidFill>
                <a:schemeClr val="bg1">
                  <a:lumMod val="9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3588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EFC24-3345-88E7-D79C-CE5AD1389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3D447F9-FDA0-88CE-F718-9C4ECAB3809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요소별 컨셉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913E769-4B33-6B09-7F86-CDEE98ADD1CA}"/>
              </a:ext>
            </a:extLst>
          </p:cNvPr>
          <p:cNvCxnSpPr>
            <a:cxnSpLocks/>
          </p:cNvCxnSpPr>
          <p:nvPr/>
        </p:nvCxnSpPr>
        <p:spPr>
          <a:xfrm>
            <a:off x="0" y="1460500"/>
            <a:ext cx="1219200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61850DA4-E53C-2BE5-682D-7BFF63B51E96}"/>
              </a:ext>
            </a:extLst>
          </p:cNvPr>
          <p:cNvSpPr txBox="1">
            <a:spLocks/>
          </p:cNvSpPr>
          <p:nvPr/>
        </p:nvSpPr>
        <p:spPr>
          <a:xfrm>
            <a:off x="35179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스탯</a:t>
            </a:r>
            <a:endParaRPr lang="ko-KR" alt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966A1-51F7-85FD-E472-605FA39CC06D}"/>
              </a:ext>
            </a:extLst>
          </p:cNvPr>
          <p:cNvSpPr txBox="1"/>
          <p:nvPr/>
        </p:nvSpPr>
        <p:spPr>
          <a:xfrm>
            <a:off x="1237034" y="1845960"/>
            <a:ext cx="299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스탯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4A27B6-975A-7F04-5C6D-13DF77F62746}"/>
              </a:ext>
            </a:extLst>
          </p:cNvPr>
          <p:cNvSpPr txBox="1"/>
          <p:nvPr/>
        </p:nvSpPr>
        <p:spPr>
          <a:xfrm>
            <a:off x="1568450" y="2462897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능력치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D13D17-8025-212C-1625-D51ED54C8F0B}"/>
              </a:ext>
            </a:extLst>
          </p:cNvPr>
          <p:cNvSpPr txBox="1"/>
          <p:nvPr/>
        </p:nvSpPr>
        <p:spPr>
          <a:xfrm>
            <a:off x="1700449" y="2786063"/>
            <a:ext cx="90551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캐릭터의 기본적인 능력치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생존에 필요한 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패시브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스킬을 선택하여 올릴 수 있음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소모하여 플레이어의 레벨을 올리고 생존 </a:t>
            </a: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스탯을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획득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DD7831-72C1-C3A4-6B1F-1013DA54F0A4}"/>
              </a:ext>
            </a:extLst>
          </p:cNvPr>
          <p:cNvSpPr txBox="1"/>
          <p:nvPr/>
        </p:nvSpPr>
        <p:spPr>
          <a:xfrm>
            <a:off x="1568450" y="4025772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생존 </a:t>
            </a:r>
            <a:r>
              <a:rPr lang="ko-KR" altLang="en-US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스탯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871B8-F62D-B83D-0272-179CC07033DB}"/>
              </a:ext>
            </a:extLst>
          </p:cNvPr>
          <p:cNvSpPr txBox="1"/>
          <p:nvPr/>
        </p:nvSpPr>
        <p:spPr>
          <a:xfrm>
            <a:off x="1700449" y="4348938"/>
            <a:ext cx="905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자원 </a:t>
            </a: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획득량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증가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근력 성장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채광 속도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곡괭이 공격력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상점 구매 가격 감소 등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스탯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투자 시 레벨 업 포인트 소모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DDEB36-E044-A080-4F3F-B682DB3AE5CD}"/>
              </a:ext>
            </a:extLst>
          </p:cNvPr>
          <p:cNvSpPr txBox="1"/>
          <p:nvPr/>
        </p:nvSpPr>
        <p:spPr>
          <a:xfrm>
            <a:off x="1568450" y="5197446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마법 </a:t>
            </a:r>
            <a:r>
              <a:rPr lang="ko-KR" altLang="en-US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스탯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A5D32-2A88-EE3C-61C8-99E233927D14}"/>
              </a:ext>
            </a:extLst>
          </p:cNvPr>
          <p:cNvSpPr txBox="1"/>
          <p:nvPr/>
        </p:nvSpPr>
        <p:spPr>
          <a:xfrm>
            <a:off x="1700449" y="5520612"/>
            <a:ext cx="905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마법 강화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공격 속도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마법 공격력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범위 등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스탯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투자 시 고서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소모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2914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89C5A-626A-2EC1-86F9-613C9C13F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AC4AE1-7D38-EEB0-A393-4795E5548D93}"/>
              </a:ext>
            </a:extLst>
          </p:cNvPr>
          <p:cNvSpPr/>
          <p:nvPr/>
        </p:nvSpPr>
        <p:spPr>
          <a:xfrm>
            <a:off x="8105903" y="3975424"/>
            <a:ext cx="1510656" cy="15106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2094ACD4-3068-9701-8DD3-71744A898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98" t="21241" r="42387" b="51136"/>
          <a:stretch>
            <a:fillRect/>
          </a:stretch>
        </p:blipFill>
        <p:spPr>
          <a:xfrm>
            <a:off x="7947025" y="3847893"/>
            <a:ext cx="1741714" cy="1638187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C3F83512-9907-D9B8-64C2-F191B46A91A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요소별 컨셉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714D14B-1EE6-4A33-EB07-DBE72B223D74}"/>
              </a:ext>
            </a:extLst>
          </p:cNvPr>
          <p:cNvCxnSpPr>
            <a:cxnSpLocks/>
          </p:cNvCxnSpPr>
          <p:nvPr/>
        </p:nvCxnSpPr>
        <p:spPr>
          <a:xfrm>
            <a:off x="0" y="1460500"/>
            <a:ext cx="1219200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FCBC3D18-81F4-324E-93A4-B4796B108994}"/>
              </a:ext>
            </a:extLst>
          </p:cNvPr>
          <p:cNvSpPr txBox="1">
            <a:spLocks/>
          </p:cNvSpPr>
          <p:nvPr/>
        </p:nvSpPr>
        <p:spPr>
          <a:xfrm>
            <a:off x="35179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하데스의</a:t>
            </a:r>
            <a:r>
              <a:rPr lang="ko-KR" alt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제안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93AFDC-F465-DB38-EE9D-506D23E6F8E2}"/>
              </a:ext>
            </a:extLst>
          </p:cNvPr>
          <p:cNvSpPr txBox="1"/>
          <p:nvPr/>
        </p:nvSpPr>
        <p:spPr>
          <a:xfrm>
            <a:off x="1237034" y="1845960"/>
            <a:ext cx="299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하데스의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제안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F97E02-166A-9515-AB9F-31140FDFDE69}"/>
              </a:ext>
            </a:extLst>
          </p:cNvPr>
          <p:cNvSpPr txBox="1"/>
          <p:nvPr/>
        </p:nvSpPr>
        <p:spPr>
          <a:xfrm>
            <a:off x="1568450" y="2462897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선택지 제공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247CE-112A-A3EA-5176-9F54FB37A6B1}"/>
              </a:ext>
            </a:extLst>
          </p:cNvPr>
          <p:cNvSpPr txBox="1"/>
          <p:nvPr/>
        </p:nvSpPr>
        <p:spPr>
          <a:xfrm>
            <a:off x="1700449" y="2786063"/>
            <a:ext cx="90551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플레이어에게 버프 선택지 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 제공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채광에 이로운 효과를 일정 시간 동안 적용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이로운 효과 선택 시 식량 일정량 소모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제안 거절 시 식량 소모 없음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81F17B1-B10D-E07D-2130-00CED1E407BF}"/>
              </a:ext>
            </a:extLst>
          </p:cNvPr>
          <p:cNvGrpSpPr/>
          <p:nvPr/>
        </p:nvGrpSpPr>
        <p:grpSpPr>
          <a:xfrm>
            <a:off x="2159020" y="3231597"/>
            <a:ext cx="1663875" cy="3049580"/>
            <a:chOff x="1431980" y="2709366"/>
            <a:chExt cx="1663875" cy="304958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125B38C-1DE7-8A64-B08A-44ACB42D9430}"/>
                </a:ext>
              </a:extLst>
            </p:cNvPr>
            <p:cNvSpPr/>
            <p:nvPr/>
          </p:nvSpPr>
          <p:spPr>
            <a:xfrm>
              <a:off x="1568450" y="3429000"/>
              <a:ext cx="1510655" cy="151065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35F8D924-D495-D6B8-F6A9-32941E2F8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00000">
              <a:off x="739128" y="3402218"/>
              <a:ext cx="3049580" cy="1663875"/>
            </a:xfrm>
            <a:prstGeom prst="rect">
              <a:avLst/>
            </a:prstGeom>
          </p:spPr>
        </p:pic>
        <p:pic>
          <p:nvPicPr>
            <p:cNvPr id="23" name="그래픽 22" descr="추가">
              <a:extLst>
                <a:ext uri="{FF2B5EF4-FFF2-40B4-BE49-F238E27FC236}">
                  <a16:creationId xmlns:a16="http://schemas.microsoft.com/office/drawing/2014/main" id="{0E2F13E2-E3BC-217E-86C5-4418EC985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63920" y="4234154"/>
              <a:ext cx="559074" cy="566446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E88483B3-DC5E-56C7-9855-1EFAA95107F7}"/>
              </a:ext>
            </a:extLst>
          </p:cNvPr>
          <p:cNvGrpSpPr/>
          <p:nvPr/>
        </p:nvGrpSpPr>
        <p:grpSpPr>
          <a:xfrm>
            <a:off x="5124086" y="3231597"/>
            <a:ext cx="1663875" cy="3049580"/>
            <a:chOff x="5124086" y="2709366"/>
            <a:chExt cx="1663875" cy="3049580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BD0E8A0-1D85-A169-330F-5F65FA1F4129}"/>
                </a:ext>
              </a:extLst>
            </p:cNvPr>
            <p:cNvSpPr/>
            <p:nvPr/>
          </p:nvSpPr>
          <p:spPr>
            <a:xfrm>
              <a:off x="5255137" y="3453194"/>
              <a:ext cx="1510656" cy="151065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C579069C-DA05-B97E-4EBE-D43E7FFAB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00000">
              <a:off x="4431234" y="3402218"/>
              <a:ext cx="3049580" cy="1663875"/>
            </a:xfrm>
            <a:prstGeom prst="rect">
              <a:avLst/>
            </a:prstGeom>
          </p:spPr>
        </p:pic>
        <p:pic>
          <p:nvPicPr>
            <p:cNvPr id="38" name="그래픽 37" descr="갈매기형 화살표">
              <a:extLst>
                <a:ext uri="{FF2B5EF4-FFF2-40B4-BE49-F238E27FC236}">
                  <a16:creationId xmlns:a16="http://schemas.microsoft.com/office/drawing/2014/main" id="{1B176DDA-5FB3-EC6E-23E8-7BE94EE36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6200000">
              <a:off x="5984933" y="4234154"/>
              <a:ext cx="605780" cy="605780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FB1C3523-EE60-9859-B0C9-D1979C92C174}"/>
              </a:ext>
            </a:extLst>
          </p:cNvPr>
          <p:cNvSpPr txBox="1"/>
          <p:nvPr/>
        </p:nvSpPr>
        <p:spPr>
          <a:xfrm>
            <a:off x="1812322" y="5698078"/>
            <a:ext cx="2476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풍족한 곡괭이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DD46A3-EBE3-ACBF-2205-BA18519CC9F4}"/>
              </a:ext>
            </a:extLst>
          </p:cNvPr>
          <p:cNvSpPr txBox="1"/>
          <p:nvPr/>
        </p:nvSpPr>
        <p:spPr>
          <a:xfrm>
            <a:off x="1598634" y="6070332"/>
            <a:ext cx="2778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자원 채굴량이 증가한다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7F3CA8-999F-1F56-C210-852220E6B946}"/>
              </a:ext>
            </a:extLst>
          </p:cNvPr>
          <p:cNvSpPr txBox="1"/>
          <p:nvPr/>
        </p:nvSpPr>
        <p:spPr>
          <a:xfrm>
            <a:off x="4771970" y="5714096"/>
            <a:ext cx="2476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날렵한 곡괭이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029C50-2735-AEFE-A125-34A16EB04210}"/>
              </a:ext>
            </a:extLst>
          </p:cNvPr>
          <p:cNvSpPr txBox="1"/>
          <p:nvPr/>
        </p:nvSpPr>
        <p:spPr>
          <a:xfrm>
            <a:off x="4621312" y="6086350"/>
            <a:ext cx="2778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얼음 채굴 속도가 증가한다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030567-0979-99C2-3507-33D5EF3F01BE}"/>
              </a:ext>
            </a:extLst>
          </p:cNvPr>
          <p:cNvSpPr txBox="1"/>
          <p:nvPr/>
        </p:nvSpPr>
        <p:spPr>
          <a:xfrm>
            <a:off x="7643990" y="5714096"/>
            <a:ext cx="2476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제안 거절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6F5B5C-A66E-0BA6-9F8B-F5984F2F4CA3}"/>
              </a:ext>
            </a:extLst>
          </p:cNvPr>
          <p:cNvSpPr txBox="1"/>
          <p:nvPr/>
        </p:nvSpPr>
        <p:spPr>
          <a:xfrm>
            <a:off x="7493332" y="6086350"/>
            <a:ext cx="2778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 도움 필요 없어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7082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FA824F-E6D9-03AE-FBF8-27A0319C7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DDC61297-949B-1C3C-7D41-B00E9165E43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요소별 컨셉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909DC42-ACB0-4232-C6B7-92816D589052}"/>
              </a:ext>
            </a:extLst>
          </p:cNvPr>
          <p:cNvCxnSpPr>
            <a:cxnSpLocks/>
          </p:cNvCxnSpPr>
          <p:nvPr/>
        </p:nvCxnSpPr>
        <p:spPr>
          <a:xfrm>
            <a:off x="0" y="1460500"/>
            <a:ext cx="1219200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959D3485-0D37-E15E-D71C-D40709F15613}"/>
              </a:ext>
            </a:extLst>
          </p:cNvPr>
          <p:cNvSpPr txBox="1">
            <a:spLocks/>
          </p:cNvSpPr>
          <p:nvPr/>
        </p:nvSpPr>
        <p:spPr>
          <a:xfrm>
            <a:off x="35179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얼음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78049E-E82C-31E5-7F93-2C24A0EC1FF3}"/>
              </a:ext>
            </a:extLst>
          </p:cNvPr>
          <p:cNvSpPr txBox="1"/>
          <p:nvPr/>
        </p:nvSpPr>
        <p:spPr>
          <a:xfrm>
            <a:off x="1237033" y="1845960"/>
            <a:ext cx="4502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얼음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C50D54-82A6-77C1-42E7-50688ED60795}"/>
              </a:ext>
            </a:extLst>
          </p:cNvPr>
          <p:cNvSpPr txBox="1"/>
          <p:nvPr/>
        </p:nvSpPr>
        <p:spPr>
          <a:xfrm>
            <a:off x="1568450" y="2462897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자원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53B3B-9CC3-7C93-6110-0EB06B2DECE3}"/>
              </a:ext>
            </a:extLst>
          </p:cNvPr>
          <p:cNvSpPr txBox="1"/>
          <p:nvPr/>
        </p:nvSpPr>
        <p:spPr>
          <a:xfrm>
            <a:off x="1700449" y="2786063"/>
            <a:ext cx="905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얼음을 채굴하여 자원을 획득할 수 있음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B3208-2EF0-199B-9289-81C07CE1F52C}"/>
              </a:ext>
            </a:extLst>
          </p:cNvPr>
          <p:cNvSpPr txBox="1"/>
          <p:nvPr/>
        </p:nvSpPr>
        <p:spPr>
          <a:xfrm>
            <a:off x="1568450" y="3342827"/>
            <a:ext cx="905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단계</a:t>
            </a: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81975-3837-46F2-3873-5B688A5A86AC}"/>
              </a:ext>
            </a:extLst>
          </p:cNvPr>
          <p:cNvSpPr txBox="1"/>
          <p:nvPr/>
        </p:nvSpPr>
        <p:spPr>
          <a:xfrm>
            <a:off x="1700449" y="3665993"/>
            <a:ext cx="905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얼음의 단계가 올라갈수록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획득할 수 있는 자원의 양이 </a:t>
            </a: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많아짐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얼음의 단계가 상승할수록 고서의 드랍 확률이 높아짐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103" name="그룹 4102">
            <a:extLst>
              <a:ext uri="{FF2B5EF4-FFF2-40B4-BE49-F238E27FC236}">
                <a16:creationId xmlns:a16="http://schemas.microsoft.com/office/drawing/2014/main" id="{857E4040-D721-0EF7-6A34-16E349A57567}"/>
              </a:ext>
            </a:extLst>
          </p:cNvPr>
          <p:cNvGrpSpPr/>
          <p:nvPr/>
        </p:nvGrpSpPr>
        <p:grpSpPr>
          <a:xfrm>
            <a:off x="476655" y="6155759"/>
            <a:ext cx="10981987" cy="338554"/>
            <a:chOff x="476655" y="6158533"/>
            <a:chExt cx="10981987" cy="33855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F53D23C-7E85-BB6A-236C-B00AD4ACE626}"/>
                </a:ext>
              </a:extLst>
            </p:cNvPr>
            <p:cNvSpPr txBox="1"/>
            <p:nvPr/>
          </p:nvSpPr>
          <p:spPr>
            <a:xfrm>
              <a:off x="476655" y="6158533"/>
              <a:ext cx="45022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>
                      <a:lumMod val="9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[1</a:t>
              </a:r>
              <a:r>
                <a:rPr lang="ko-KR" altLang="en-US" sz="1600" dirty="0">
                  <a:solidFill>
                    <a:schemeClr val="bg1">
                      <a:lumMod val="9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단계</a:t>
              </a:r>
              <a:r>
                <a:rPr lang="en-US" altLang="ko-KR" sz="1600" dirty="0">
                  <a:solidFill>
                    <a:schemeClr val="bg1">
                      <a:lumMod val="9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] </a:t>
              </a:r>
              <a:r>
                <a:rPr lang="ko-KR" altLang="en-US" sz="1600" dirty="0">
                  <a:solidFill>
                    <a:schemeClr val="bg1">
                      <a:lumMod val="9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가벼운</a:t>
              </a:r>
              <a:r>
                <a:rPr lang="en-US" altLang="ko-KR" sz="1600" dirty="0">
                  <a:solidFill>
                    <a:schemeClr val="bg1">
                      <a:lumMod val="9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</a:t>
              </a:r>
              <a:r>
                <a:rPr lang="ko-KR" altLang="en-US" sz="1600" dirty="0">
                  <a:solidFill>
                    <a:schemeClr val="bg1">
                      <a:lumMod val="9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얼음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B65FDC5-007D-984B-064A-6EEA0569BCE4}"/>
                </a:ext>
              </a:extLst>
            </p:cNvPr>
            <p:cNvSpPr txBox="1"/>
            <p:nvPr/>
          </p:nvSpPr>
          <p:spPr>
            <a:xfrm>
              <a:off x="3676514" y="6158533"/>
              <a:ext cx="45022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>
                      <a:lumMod val="9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[2</a:t>
              </a:r>
              <a:r>
                <a:rPr lang="ko-KR" altLang="en-US" sz="1600" dirty="0">
                  <a:solidFill>
                    <a:schemeClr val="bg1">
                      <a:lumMod val="9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단계</a:t>
              </a:r>
              <a:r>
                <a:rPr lang="en-US" altLang="ko-KR" sz="1600" dirty="0">
                  <a:solidFill>
                    <a:schemeClr val="bg1">
                      <a:lumMod val="9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] </a:t>
              </a:r>
              <a:r>
                <a:rPr lang="ko-KR" altLang="en-US" sz="1600" dirty="0">
                  <a:solidFill>
                    <a:schemeClr val="bg1">
                      <a:lumMod val="9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적당한 얼음</a:t>
              </a:r>
            </a:p>
          </p:txBody>
        </p:sp>
        <p:sp>
          <p:nvSpPr>
            <p:cNvPr id="4096" name="TextBox 4095">
              <a:extLst>
                <a:ext uri="{FF2B5EF4-FFF2-40B4-BE49-F238E27FC236}">
                  <a16:creationId xmlns:a16="http://schemas.microsoft.com/office/drawing/2014/main" id="{7D7E1492-102D-95C5-F68D-FE58FCECC5A1}"/>
                </a:ext>
              </a:extLst>
            </p:cNvPr>
            <p:cNvSpPr txBox="1"/>
            <p:nvPr/>
          </p:nvSpPr>
          <p:spPr>
            <a:xfrm>
              <a:off x="6956357" y="6158533"/>
              <a:ext cx="45022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>
                      <a:lumMod val="9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[3</a:t>
              </a:r>
              <a:r>
                <a:rPr lang="ko-KR" altLang="en-US" sz="1600" dirty="0">
                  <a:solidFill>
                    <a:schemeClr val="bg1">
                      <a:lumMod val="9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단계</a:t>
              </a:r>
              <a:r>
                <a:rPr lang="en-US" altLang="ko-KR" sz="1600" dirty="0">
                  <a:solidFill>
                    <a:schemeClr val="bg1">
                      <a:lumMod val="9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] </a:t>
              </a:r>
              <a:r>
                <a:rPr lang="ko-KR" altLang="en-US" sz="1600" dirty="0">
                  <a:solidFill>
                    <a:schemeClr val="bg1">
                      <a:lumMod val="9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단단하게 언 얼음</a:t>
              </a:r>
            </a:p>
          </p:txBody>
        </p:sp>
        <p:cxnSp>
          <p:nvCxnSpPr>
            <p:cNvPr id="4099" name="직선 화살표 연결선 4098">
              <a:extLst>
                <a:ext uri="{FF2B5EF4-FFF2-40B4-BE49-F238E27FC236}">
                  <a16:creationId xmlns:a16="http://schemas.microsoft.com/office/drawing/2014/main" id="{0CBBC119-F533-D813-9507-21F1B1DE7493}"/>
                </a:ext>
              </a:extLst>
            </p:cNvPr>
            <p:cNvCxnSpPr/>
            <p:nvPr/>
          </p:nvCxnSpPr>
          <p:spPr>
            <a:xfrm>
              <a:off x="3835400" y="6327810"/>
              <a:ext cx="1038157" cy="0"/>
            </a:xfrm>
            <a:prstGeom prst="straightConnector1">
              <a:avLst/>
            </a:prstGeom>
            <a:ln w="25400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1" name="직선 화살표 연결선 4100">
              <a:extLst>
                <a:ext uri="{FF2B5EF4-FFF2-40B4-BE49-F238E27FC236}">
                  <a16:creationId xmlns:a16="http://schemas.microsoft.com/office/drawing/2014/main" id="{A5C19AEE-9420-D25A-6F9B-EF8DE59175DE}"/>
                </a:ext>
              </a:extLst>
            </p:cNvPr>
            <p:cNvCxnSpPr/>
            <p:nvPr/>
          </p:nvCxnSpPr>
          <p:spPr>
            <a:xfrm>
              <a:off x="6956357" y="6327810"/>
              <a:ext cx="1038157" cy="0"/>
            </a:xfrm>
            <a:prstGeom prst="straightConnector1">
              <a:avLst/>
            </a:prstGeom>
            <a:ln w="25400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F068CDB9-8D06-3B72-117C-E02E0865D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51" y="4761366"/>
            <a:ext cx="3295467" cy="179706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DBB5E41-1F7B-ACCE-9E20-E42925FDC8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193" y="4358491"/>
            <a:ext cx="4308925" cy="234971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4C1A264-18BE-B263-6CF7-E6CC3F7EFE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363" y="4358492"/>
            <a:ext cx="3606271" cy="196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374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3FC68F-6143-FF97-54C8-A948913ED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E2F1D2D-6926-1951-676B-EFF595C71FE8}"/>
              </a:ext>
            </a:extLst>
          </p:cNvPr>
          <p:cNvSpPr/>
          <p:nvPr/>
        </p:nvSpPr>
        <p:spPr>
          <a:xfrm>
            <a:off x="316051" y="2076791"/>
            <a:ext cx="3334290" cy="4416081"/>
          </a:xfrm>
          <a:prstGeom prst="roundRect">
            <a:avLst>
              <a:gd name="adj" fmla="val 7415"/>
            </a:avLst>
          </a:prstGeom>
          <a:solidFill>
            <a:schemeClr val="tx2">
              <a:lumMod val="50000"/>
            </a:schemeClr>
          </a:solidFill>
          <a:ln w="28575">
            <a:solidFill>
              <a:srgbClr val="BBCC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FB41EB3-10AE-670F-836B-5F3E0A48FAE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요소별 컨셉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D7DFEC9-0FAD-EEC6-7CF8-1463C2411E7C}"/>
              </a:ext>
            </a:extLst>
          </p:cNvPr>
          <p:cNvCxnSpPr>
            <a:cxnSpLocks/>
          </p:cNvCxnSpPr>
          <p:nvPr/>
        </p:nvCxnSpPr>
        <p:spPr>
          <a:xfrm>
            <a:off x="0" y="1460500"/>
            <a:ext cx="1219200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A0290F3-D83A-EC36-A758-D961BD151273}"/>
              </a:ext>
            </a:extLst>
          </p:cNvPr>
          <p:cNvSpPr txBox="1">
            <a:spLocks/>
          </p:cNvSpPr>
          <p:nvPr/>
        </p:nvSpPr>
        <p:spPr>
          <a:xfrm>
            <a:off x="3517900" y="365125"/>
            <a:ext cx="299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자원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ADF428-BA1E-48B7-BFB9-2CA41DB2A8D2}"/>
              </a:ext>
            </a:extLst>
          </p:cNvPr>
          <p:cNvSpPr txBox="1"/>
          <p:nvPr/>
        </p:nvSpPr>
        <p:spPr>
          <a:xfrm>
            <a:off x="970384" y="1845960"/>
            <a:ext cx="2025623" cy="46166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EXP</a:t>
            </a:r>
            <a:endParaRPr lang="ko-KR" altLang="en-US" sz="2400" dirty="0">
              <a:solidFill>
                <a:schemeClr val="accent4">
                  <a:lumMod val="40000"/>
                  <a:lumOff val="60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6D6CC4-5180-C340-C395-E40F12362D5D}"/>
              </a:ext>
            </a:extLst>
          </p:cNvPr>
          <p:cNvSpPr txBox="1"/>
          <p:nvPr/>
        </p:nvSpPr>
        <p:spPr>
          <a:xfrm>
            <a:off x="613127" y="2462897"/>
            <a:ext cx="33342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얼음 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단계부터 채굴하여 획득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생존 </a:t>
            </a: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스탯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투자 시 일정량 소모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등급에 따라 소모량 증가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361B3E08-EABF-3341-6C96-79226E0BC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72" y="3977411"/>
            <a:ext cx="3526846" cy="1924276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740418-192B-A5B3-FEBA-A0AC5328C554}"/>
              </a:ext>
            </a:extLst>
          </p:cNvPr>
          <p:cNvSpPr txBox="1"/>
          <p:nvPr/>
        </p:nvSpPr>
        <p:spPr>
          <a:xfrm>
            <a:off x="792193" y="5166667"/>
            <a:ext cx="2382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7030A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EXP</a:t>
            </a:r>
            <a:endParaRPr lang="ko-KR" altLang="en-US" sz="2400" dirty="0">
              <a:solidFill>
                <a:srgbClr val="7030A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5A996DA-9262-F74D-7413-CEA0379859E3}"/>
              </a:ext>
            </a:extLst>
          </p:cNvPr>
          <p:cNvSpPr/>
          <p:nvPr/>
        </p:nvSpPr>
        <p:spPr>
          <a:xfrm>
            <a:off x="4486481" y="2076791"/>
            <a:ext cx="3334290" cy="4416081"/>
          </a:xfrm>
          <a:prstGeom prst="roundRect">
            <a:avLst>
              <a:gd name="adj" fmla="val 7415"/>
            </a:avLst>
          </a:prstGeom>
          <a:solidFill>
            <a:schemeClr val="tx2">
              <a:lumMod val="50000"/>
            </a:schemeClr>
          </a:solidFill>
          <a:ln w="28575">
            <a:solidFill>
              <a:srgbClr val="BBCC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9C6DCE-2886-92AA-DD13-4985FF770A5D}"/>
              </a:ext>
            </a:extLst>
          </p:cNvPr>
          <p:cNvSpPr txBox="1"/>
          <p:nvPr/>
        </p:nvSpPr>
        <p:spPr>
          <a:xfrm>
            <a:off x="5140814" y="1845960"/>
            <a:ext cx="2025623" cy="46166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식량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4EB13F-4A08-09A4-C4CA-CF1E932D51EC}"/>
              </a:ext>
            </a:extLst>
          </p:cNvPr>
          <p:cNvSpPr txBox="1"/>
          <p:nvPr/>
        </p:nvSpPr>
        <p:spPr>
          <a:xfrm>
            <a:off x="4783557" y="2462897"/>
            <a:ext cx="33342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얼음 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단계부터 채굴하여 획득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상점 아이템 구매 시 일정량 소모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하데스의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제안 선택 시 일정량 소모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F564163-D75C-1A91-579A-FA0F6406AFA1}"/>
              </a:ext>
            </a:extLst>
          </p:cNvPr>
          <p:cNvSpPr/>
          <p:nvPr/>
        </p:nvSpPr>
        <p:spPr>
          <a:xfrm>
            <a:off x="8560634" y="2076791"/>
            <a:ext cx="3334290" cy="4416081"/>
          </a:xfrm>
          <a:prstGeom prst="roundRect">
            <a:avLst>
              <a:gd name="adj" fmla="val 7415"/>
            </a:avLst>
          </a:prstGeom>
          <a:solidFill>
            <a:schemeClr val="tx2">
              <a:lumMod val="50000"/>
            </a:schemeClr>
          </a:solidFill>
          <a:ln w="28575">
            <a:solidFill>
              <a:srgbClr val="BBCC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A2A2A9-471A-4257-D485-977B9F9B571B}"/>
              </a:ext>
            </a:extLst>
          </p:cNvPr>
          <p:cNvSpPr txBox="1"/>
          <p:nvPr/>
        </p:nvSpPr>
        <p:spPr>
          <a:xfrm>
            <a:off x="9214967" y="1845960"/>
            <a:ext cx="2025623" cy="46166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고서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833308-0A15-C220-35B3-368E4EDC9359}"/>
              </a:ext>
            </a:extLst>
          </p:cNvPr>
          <p:cNvSpPr txBox="1"/>
          <p:nvPr/>
        </p:nvSpPr>
        <p:spPr>
          <a:xfrm>
            <a:off x="8857710" y="2462897"/>
            <a:ext cx="33342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얼음 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단계부터 채굴하여 획득</a:t>
            </a:r>
            <a:b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매우 낮은 드랍 확률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마법 </a:t>
            </a: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스탯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투자 시 일정량 소모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등급에 따라 소모량 증가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527ACDF-6B03-42AB-B60F-F5DE2BF06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2970" y="4133679"/>
            <a:ext cx="2989615" cy="1630274"/>
          </a:xfrm>
          <a:prstGeom prst="rect">
            <a:avLst/>
          </a:prstGeom>
          <a:ln>
            <a:noFill/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5BE89A2-6474-E40E-0ABB-043F11637D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483" y="3898321"/>
            <a:ext cx="4098298" cy="2234853"/>
          </a:xfrm>
          <a:prstGeom prst="rect">
            <a:avLst/>
          </a:prstGeom>
          <a:ln>
            <a:noFill/>
          </a:ln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A0AE27E-DD32-8708-CD02-EDF442D03A68}"/>
              </a:ext>
            </a:extLst>
          </p:cNvPr>
          <p:cNvSpPr/>
          <p:nvPr/>
        </p:nvSpPr>
        <p:spPr>
          <a:xfrm>
            <a:off x="1066800" y="3937352"/>
            <a:ext cx="1803400" cy="2004393"/>
          </a:xfrm>
          <a:prstGeom prst="roundRect">
            <a:avLst/>
          </a:prstGeom>
          <a:noFill/>
          <a:ln w="76200">
            <a:solidFill>
              <a:srgbClr val="B5C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D44745B-92F7-6998-CD87-6FF5D7DE17B6}"/>
              </a:ext>
            </a:extLst>
          </p:cNvPr>
          <p:cNvSpPr/>
          <p:nvPr/>
        </p:nvSpPr>
        <p:spPr>
          <a:xfrm>
            <a:off x="5251925" y="3937352"/>
            <a:ext cx="1803400" cy="2004393"/>
          </a:xfrm>
          <a:prstGeom prst="roundRect">
            <a:avLst/>
          </a:prstGeom>
          <a:noFill/>
          <a:ln w="76200">
            <a:solidFill>
              <a:srgbClr val="B5C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FA75CD0-2533-709D-BD04-B9D300B827CC}"/>
              </a:ext>
            </a:extLst>
          </p:cNvPr>
          <p:cNvSpPr/>
          <p:nvPr/>
        </p:nvSpPr>
        <p:spPr>
          <a:xfrm>
            <a:off x="9326078" y="3937352"/>
            <a:ext cx="1803400" cy="2004393"/>
          </a:xfrm>
          <a:prstGeom prst="roundRect">
            <a:avLst/>
          </a:prstGeom>
          <a:noFill/>
          <a:ln w="76200">
            <a:solidFill>
              <a:srgbClr val="B5C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835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765</Words>
  <Application>Microsoft Office PowerPoint</Application>
  <PresentationFormat>와이드스크린</PresentationFormat>
  <Paragraphs>186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7" baseType="lpstr">
      <vt:lpstr>Pretendard</vt:lpstr>
      <vt:lpstr>Pretendard Black</vt:lpstr>
      <vt:lpstr>Pretendard ExtraBold</vt:lpstr>
      <vt:lpstr>Pretendard Medium</vt:lpstr>
      <vt:lpstr>Pretendard SemiBold</vt:lpstr>
      <vt:lpstr>맑은 고딕</vt:lpstr>
      <vt:lpstr>Arial</vt:lpstr>
      <vt:lpstr>Wingdings</vt:lpstr>
      <vt:lpstr>Office 테마</vt:lpstr>
      <vt:lpstr>Ice Breaking 컨셉 기획서</vt:lpstr>
      <vt:lpstr>문서 이력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유한 소</dc:creator>
  <cp:lastModifiedBy>유한 소</cp:lastModifiedBy>
  <cp:revision>1108</cp:revision>
  <dcterms:created xsi:type="dcterms:W3CDTF">2025-11-04T02:39:54Z</dcterms:created>
  <dcterms:modified xsi:type="dcterms:W3CDTF">2025-11-05T14:54:31Z</dcterms:modified>
</cp:coreProperties>
</file>